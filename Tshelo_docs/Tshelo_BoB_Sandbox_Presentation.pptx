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8A020"/>
          </a:solidFill>
          <a:ln w="12700">
            <a:solidFill>
              <a:srgbClr val="E8A020"/>
            </a:solidFill>
            <a:prstDash val="solid"/>
          </a:ln>
        </p:spPr>
      </p:sp>
      <p:sp>
        <p:nvSpPr>
          <p:cNvPr id="3" name="Shape 1"/>
          <p:cNvSpPr/>
          <p:nvPr/>
        </p:nvSpPr>
        <p:spPr>
          <a:xfrm>
            <a:off x="7132320" y="0"/>
            <a:ext cx="2011680" cy="1645920"/>
          </a:xfrm>
          <a:prstGeom prst="rect">
            <a:avLst/>
          </a:prstGeom>
          <a:solidFill>
            <a:srgbClr val="00897B">
              <a:alpha val="25000"/>
            </a:srgbClr>
          </a:solidFill>
          <a:ln w="12700">
            <a:solidFill>
              <a:srgbClr val="00897B">
                <a:alpha val="25000"/>
              </a:srgbClr>
            </a:solidFill>
            <a:prstDash val="solid"/>
          </a:ln>
        </p:spPr>
      </p:sp>
      <p:sp>
        <p:nvSpPr>
          <p:cNvPr id="4" name="Shape 2"/>
          <p:cNvSpPr/>
          <p:nvPr/>
        </p:nvSpPr>
        <p:spPr>
          <a:xfrm>
            <a:off x="7772400" y="0"/>
            <a:ext cx="1371600" cy="822960"/>
          </a:xfrm>
          <a:prstGeom prst="rect">
            <a:avLst/>
          </a:prstGeom>
          <a:solidFill>
            <a:srgbClr val="E8A020">
              <a:alpha val="40000"/>
            </a:srgbClr>
          </a:solidFill>
          <a:ln w="12700">
            <a:solidFill>
              <a:srgbClr val="E8A020">
                <a:alpha val="40000"/>
              </a:srgbClr>
            </a:solidFill>
            <a:prstDash val="solid"/>
          </a:ln>
        </p:spPr>
      </p:sp>
      <p:sp>
        <p:nvSpPr>
          <p:cNvPr id="5" name="Shape 3"/>
          <p:cNvSpPr/>
          <p:nvPr/>
        </p:nvSpPr>
        <p:spPr>
          <a:xfrm>
            <a:off x="0" y="4572000"/>
            <a:ext cx="9144000" cy="571500"/>
          </a:xfrm>
          <a:prstGeom prst="rect">
            <a:avLst/>
          </a:prstGeom>
          <a:solidFill>
            <a:srgbClr val="00897B"/>
          </a:solidFill>
          <a:ln w="12700">
            <a:solidFill>
              <a:srgbClr val="00897B"/>
            </a:solidFill>
            <a:prstDash val="solid"/>
          </a:ln>
        </p:spPr>
      </p:sp>
      <p:sp>
        <p:nvSpPr>
          <p:cNvPr id="6" name="Text 4"/>
          <p:cNvSpPr/>
          <p:nvPr/>
        </p:nvSpPr>
        <p:spPr>
          <a:xfrm>
            <a:off x="594360" y="502920"/>
            <a:ext cx="8229600" cy="777240"/>
          </a:xfrm>
          <a:prstGeom prst="rect">
            <a:avLst/>
          </a:prstGeom>
          <a:noFill/>
          <a:ln/>
        </p:spPr>
        <p:txBody>
          <a:bodyPr wrap="square" rtlCol="0" anchor="ctr"/>
          <a:lstStyle/>
          <a:p>
            <a:pPr indent="0" marL="0">
              <a:buNone/>
            </a:pPr>
            <a:r>
              <a:rPr lang="en-US" sz="5200" b="1" spc="1000" kern="0" dirty="0">
                <a:solidFill>
                  <a:srgbClr val="FFFFFF"/>
                </a:solidFill>
                <a:latin typeface="Calibri" pitchFamily="34" charset="0"/>
                <a:ea typeface="Calibri" pitchFamily="34" charset="-122"/>
                <a:cs typeface="Calibri" pitchFamily="34" charset="-120"/>
              </a:rPr>
              <a:t>TSHELO</a:t>
            </a:r>
            <a:endParaRPr lang="en-US" sz="5200" dirty="0"/>
          </a:p>
        </p:txBody>
      </p:sp>
      <p:sp>
        <p:nvSpPr>
          <p:cNvPr id="7" name="Text 5"/>
          <p:cNvSpPr/>
          <p:nvPr/>
        </p:nvSpPr>
        <p:spPr>
          <a:xfrm>
            <a:off x="594360" y="1325880"/>
            <a:ext cx="7315200" cy="457200"/>
          </a:xfrm>
          <a:prstGeom prst="rect">
            <a:avLst/>
          </a:prstGeom>
          <a:noFill/>
          <a:ln/>
        </p:spPr>
        <p:txBody>
          <a:bodyPr wrap="square" rtlCol="0" anchor="ctr"/>
          <a:lstStyle/>
          <a:p>
            <a:pPr indent="0" marL="0">
              <a:buNone/>
            </a:pPr>
            <a:r>
              <a:rPr lang="en-US" sz="2000" i="1" dirty="0">
                <a:solidFill>
                  <a:srgbClr val="E8A020"/>
                </a:solidFill>
                <a:latin typeface="Calibri" pitchFamily="34" charset="0"/>
                <a:ea typeface="Calibri" pitchFamily="34" charset="-122"/>
                <a:cs typeface="Calibri" pitchFamily="34" charset="-120"/>
              </a:rPr>
              <a:t>Community Contributions, Simplified</a:t>
            </a:r>
            <a:endParaRPr lang="en-US" sz="2000" dirty="0"/>
          </a:p>
        </p:txBody>
      </p:sp>
      <p:sp>
        <p:nvSpPr>
          <p:cNvPr id="8" name="Shape 6"/>
          <p:cNvSpPr/>
          <p:nvPr/>
        </p:nvSpPr>
        <p:spPr>
          <a:xfrm>
            <a:off x="594360" y="1874520"/>
            <a:ext cx="4114800" cy="36576"/>
          </a:xfrm>
          <a:prstGeom prst="rect">
            <a:avLst/>
          </a:prstGeom>
          <a:solidFill>
            <a:srgbClr val="E8ECF0">
              <a:alpha val="60000"/>
            </a:srgbClr>
          </a:solidFill>
          <a:ln w="12700">
            <a:solidFill>
              <a:srgbClr val="E8ECF0">
                <a:alpha val="60000"/>
              </a:srgbClr>
            </a:solidFill>
            <a:prstDash val="solid"/>
          </a:ln>
        </p:spPr>
      </p:sp>
      <p:sp>
        <p:nvSpPr>
          <p:cNvPr id="9" name="Text 7"/>
          <p:cNvSpPr/>
          <p:nvPr/>
        </p:nvSpPr>
        <p:spPr>
          <a:xfrm>
            <a:off x="594360" y="2011680"/>
            <a:ext cx="7772400" cy="411480"/>
          </a:xfrm>
          <a:prstGeom prst="rect">
            <a:avLst/>
          </a:prstGeom>
          <a:noFill/>
          <a:ln/>
        </p:spPr>
        <p:txBody>
          <a:bodyPr wrap="square" rtlCol="0" anchor="ctr"/>
          <a:lstStyle/>
          <a:p>
            <a:pPr indent="0" marL="0">
              <a:buNone/>
            </a:pPr>
            <a:r>
              <a:rPr lang="en-US" sz="1500" dirty="0">
                <a:solidFill>
                  <a:srgbClr val="E8ECF0"/>
                </a:solidFill>
                <a:latin typeface="Calibri" pitchFamily="34" charset="0"/>
                <a:ea typeface="Calibri" pitchFamily="34" charset="-122"/>
                <a:cs typeface="Calibri" pitchFamily="34" charset="-120"/>
              </a:rPr>
              <a:t>Bank of Botswana Regulatory Sandbox Presentation</a:t>
            </a:r>
            <a:endParaRPr lang="en-US" sz="1500" dirty="0"/>
          </a:p>
        </p:txBody>
      </p:sp>
      <p:sp>
        <p:nvSpPr>
          <p:cNvPr id="10" name="Text 8"/>
          <p:cNvSpPr/>
          <p:nvPr/>
        </p:nvSpPr>
        <p:spPr>
          <a:xfrm>
            <a:off x="594360" y="2468880"/>
            <a:ext cx="5486400" cy="347472"/>
          </a:xfrm>
          <a:prstGeom prst="rect">
            <a:avLst/>
          </a:prstGeom>
          <a:noFill/>
          <a:ln/>
        </p:spPr>
        <p:txBody>
          <a:bodyPr wrap="square" rtlCol="0" anchor="ctr"/>
          <a:lstStyle/>
          <a:p>
            <a:pPr indent="0" marL="0">
              <a:buNone/>
            </a:pPr>
            <a:r>
              <a:rPr lang="en-US" sz="1300" dirty="0">
                <a:solidFill>
                  <a:srgbClr val="6B7A8D"/>
                </a:solidFill>
                <a:latin typeface="Calibri" pitchFamily="34" charset="0"/>
                <a:ea typeface="Calibri" pitchFamily="34" charset="-122"/>
                <a:cs typeface="Calibri" pitchFamily="34" charset="-120"/>
              </a:rPr>
              <a:t>Data Sentinels  |  April 2026</a:t>
            </a:r>
            <a:endParaRPr lang="en-US" sz="1300" dirty="0"/>
          </a:p>
        </p:txBody>
      </p:sp>
      <p:sp>
        <p:nvSpPr>
          <p:cNvPr id="11" name="Text 9"/>
          <p:cNvSpPr/>
          <p:nvPr/>
        </p:nvSpPr>
        <p:spPr>
          <a:xfrm>
            <a:off x="457200" y="4617720"/>
            <a:ext cx="8412480" cy="4114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Presented by: Nono Bokete, CEO – Data Sentinels  |  tshelo.com  |  hello@tshelo.com</a:t>
            </a:r>
            <a:endParaRPr lang="en-US" sz="1100" dirty="0"/>
          </a:p>
        </p:txBody>
      </p:sp>
      <p:pic>
        <p:nvPicPr>
          <p:cNvPr id="12" name="Image 0" descr="preencoded.png">    </p:cNvPr>
          <p:cNvPicPr>
            <a:picLocks noChangeAspect="1"/>
          </p:cNvPicPr>
          <p:nvPr/>
        </p:nvPicPr>
        <p:blipFill>
          <a:blip r:embed="rId1">
            <a:alphaModFix amt="70000"/>
          </a:blip>
          <a:stretch>
            <a:fillRect/>
          </a:stretch>
        </p:blipFill>
        <p:spPr>
          <a:xfrm>
            <a:off x="6583680" y="1645920"/>
            <a:ext cx="210312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01  |  Company Structure &amp; Governance</a:t>
            </a:r>
            <a:endParaRPr lang="en-US" sz="1800" dirty="0"/>
          </a:p>
        </p:txBody>
      </p:sp>
      <p:sp>
        <p:nvSpPr>
          <p:cNvPr id="5" name="Shape 3"/>
          <p:cNvSpPr/>
          <p:nvPr/>
        </p:nvSpPr>
        <p:spPr>
          <a:xfrm>
            <a:off x="365760" y="914400"/>
            <a:ext cx="3931920" cy="33832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914400"/>
            <a:ext cx="3931920" cy="411480"/>
          </a:xfrm>
          <a:prstGeom prst="rect">
            <a:avLst/>
          </a:prstGeom>
          <a:solidFill>
            <a:srgbClr val="1A2B4A"/>
          </a:solidFill>
          <a:ln w="12700">
            <a:solidFill>
              <a:srgbClr val="1A2B4A"/>
            </a:solidFill>
            <a:prstDash val="solid"/>
          </a:ln>
        </p:spPr>
      </p:sp>
      <p:sp>
        <p:nvSpPr>
          <p:cNvPr id="7" name="Text 5"/>
          <p:cNvSpPr/>
          <p:nvPr/>
        </p:nvSpPr>
        <p:spPr>
          <a:xfrm>
            <a:off x="457200" y="932688"/>
            <a:ext cx="37490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SENTINELS</a:t>
            </a:r>
            <a:endParaRPr lang="en-US" sz="1300" dirty="0"/>
          </a:p>
        </p:txBody>
      </p:sp>
      <p:sp>
        <p:nvSpPr>
          <p:cNvPr id="8" name="Text 6"/>
          <p:cNvSpPr/>
          <p:nvPr/>
        </p:nvSpPr>
        <p:spPr>
          <a:xfrm>
            <a:off x="502920" y="1417320"/>
            <a:ext cx="3657600" cy="2743200"/>
          </a:xfrm>
          <a:prstGeom prst="rect">
            <a:avLst/>
          </a:prstGeom>
          <a:noFill/>
          <a:ln/>
        </p:spPr>
        <p:txBody>
          <a:bodyPr wrap="square" rtlCol="0" anchor="ctr"/>
          <a:lstStyle/>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Legal Entity:</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Data Sentinels (Pty) Ltd</a:t>
            </a:r>
            <a:endParaRPr lang="en-US" sz="1200" dirty="0"/>
          </a:p>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Sector:</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Digital Transformation Consulting</a:t>
            </a:r>
            <a:endParaRPr lang="en-US" sz="1200" dirty="0"/>
          </a:p>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Operations:</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Botswana, USA, UK, Africa</a:t>
            </a:r>
            <a:endParaRPr lang="en-US" sz="1200" dirty="0"/>
          </a:p>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Product:</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Tshelo (mobile-first platform)</a:t>
            </a:r>
            <a:endParaRPr lang="en-US" sz="1200" dirty="0"/>
          </a:p>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CEO:</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Nono Bokete</a:t>
            </a:r>
            <a:endParaRPr lang="en-US" sz="1200" dirty="0"/>
          </a:p>
          <a:p>
            <a:pPr indent="0" marL="0">
              <a:spcAft>
                <a:spcPts val="600"/>
              </a:spcAft>
              <a:buNone/>
            </a:pPr>
            <a:r>
              <a:rPr lang="en-US" sz="1200" b="1" dirty="0">
                <a:solidFill>
                  <a:srgbClr val="1A2B4A"/>
                </a:solidFill>
                <a:latin typeface="Calibri" pitchFamily="34" charset="0"/>
                <a:ea typeface="Calibri" pitchFamily="34" charset="-122"/>
                <a:cs typeface="Calibri" pitchFamily="34" charset="-120"/>
              </a:rPr>
              <a:t>Contact:</a:t>
            </a:r>
            <a:pPr indent="0" marL="0">
              <a:spcAft>
                <a:spcPts val="600"/>
              </a:spcAft>
              <a:buNone/>
            </a:pPr>
            <a:r>
              <a:rPr lang="en-US" sz="1200" dirty="0">
                <a:solidFill>
                  <a:srgbClr val="2C3E50"/>
                </a:solidFill>
                <a:latin typeface="Calibri" pitchFamily="34" charset="0"/>
                <a:ea typeface="Calibri" pitchFamily="34" charset="-122"/>
                <a:cs typeface="Calibri" pitchFamily="34" charset="-120"/>
              </a:rPr>
              <a:t> nbokete@data-sentinels.com</a:t>
            </a:r>
            <a:endParaRPr lang="en-US" sz="1200" dirty="0"/>
          </a:p>
        </p:txBody>
      </p:sp>
      <p:sp>
        <p:nvSpPr>
          <p:cNvPr id="9" name="Shape 7"/>
          <p:cNvSpPr/>
          <p:nvPr/>
        </p:nvSpPr>
        <p:spPr>
          <a:xfrm>
            <a:off x="4846320" y="914400"/>
            <a:ext cx="3931920" cy="33832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846320" y="914400"/>
            <a:ext cx="3931920" cy="411480"/>
          </a:xfrm>
          <a:prstGeom prst="rect">
            <a:avLst/>
          </a:prstGeom>
          <a:solidFill>
            <a:srgbClr val="00897B"/>
          </a:solidFill>
          <a:ln w="12700">
            <a:solidFill>
              <a:srgbClr val="00897B"/>
            </a:solidFill>
            <a:prstDash val="solid"/>
          </a:ln>
        </p:spPr>
      </p:sp>
      <p:sp>
        <p:nvSpPr>
          <p:cNvPr id="11" name="Text 9"/>
          <p:cNvSpPr/>
          <p:nvPr/>
        </p:nvSpPr>
        <p:spPr>
          <a:xfrm>
            <a:off x="4937760" y="932688"/>
            <a:ext cx="37490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GOVERNANCE &amp; SANDBOX TEAM</a:t>
            </a:r>
            <a:endParaRPr lang="en-US" sz="1300" dirty="0"/>
          </a:p>
        </p:txBody>
      </p:sp>
      <p:sp>
        <p:nvSpPr>
          <p:cNvPr id="12" name="Text 10"/>
          <p:cNvSpPr/>
          <p:nvPr/>
        </p:nvSpPr>
        <p:spPr>
          <a:xfrm>
            <a:off x="4983480" y="1417320"/>
            <a:ext cx="3657600" cy="2743200"/>
          </a:xfrm>
          <a:prstGeom prst="rect">
            <a:avLst/>
          </a:prstGeom>
          <a:noFill/>
          <a:ln/>
        </p:spPr>
        <p:txBody>
          <a:bodyPr wrap="square" rtlCol="0" anchor="ctr"/>
          <a:lstStyle/>
          <a:p>
            <a:pPr indent="0" marL="0">
              <a:spcAft>
                <a:spcPts val="400"/>
              </a:spcAft>
              <a:buNone/>
            </a:pPr>
            <a:r>
              <a:rPr lang="en-US" sz="1200" b="1" dirty="0">
                <a:solidFill>
                  <a:srgbClr val="1A2B4A"/>
                </a:solidFill>
                <a:latin typeface="Calibri" pitchFamily="34" charset="0"/>
                <a:ea typeface="Calibri" pitchFamily="34" charset="-122"/>
                <a:cs typeface="Calibri" pitchFamily="34" charset="-120"/>
              </a:rPr>
              <a:t>Decision Authority:</a:t>
            </a:r>
            <a:endParaRPr lang="en-US" sz="1200" dirty="0"/>
          </a:p>
          <a:p>
            <a:pPr indent="0" marL="0">
              <a:spcAft>
                <a:spcPts val="400"/>
              </a:spcAft>
              <a:buNone/>
            </a:pPr>
            <a:r>
              <a:rPr lang="en-US" sz="1200" dirty="0">
                <a:solidFill>
                  <a:srgbClr val="2C3E50"/>
                </a:solidFill>
                <a:latin typeface="Calibri" pitchFamily="34" charset="0"/>
                <a:ea typeface="Calibri" pitchFamily="34" charset="-122"/>
                <a:cs typeface="Calibri" pitchFamily="34" charset="-120"/>
              </a:rPr>
              <a:t>Nono Bokete – CEO, Data Sentinels</a:t>
            </a:r>
            <a:endParaRPr lang="en-US" sz="1200" dirty="0"/>
          </a:p>
          <a:p>
            <a:pPr indent="0" marL="0">
              <a:spcAft>
                <a:spcPts val="400"/>
              </a:spcAft>
              <a:buNone/>
            </a:pPr>
            <a:r>
              <a:rPr lang="en-US" sz="1200" i="1" dirty="0">
                <a:solidFill>
                  <a:srgbClr val="6B7A8D"/>
                </a:solidFill>
                <a:latin typeface="Calibri" pitchFamily="34" charset="0"/>
                <a:ea typeface="Calibri" pitchFamily="34" charset="-122"/>
                <a:cs typeface="Calibri" pitchFamily="34" charset="-120"/>
              </a:rPr>
              <a:t>AML Compliance Contact</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spcAft>
                <a:spcPts val="400"/>
              </a:spcAft>
              <a:buNone/>
            </a:pPr>
            <a:r>
              <a:rPr lang="en-US" sz="1200" b="1" dirty="0">
                <a:solidFill>
                  <a:srgbClr val="1A2B4A"/>
                </a:solidFill>
                <a:latin typeface="Calibri" pitchFamily="34" charset="0"/>
                <a:ea typeface="Calibri" pitchFamily="34" charset="-122"/>
                <a:cs typeface="Calibri" pitchFamily="34" charset="-120"/>
              </a:rPr>
              <a:t>Joining This Presentation:</a:t>
            </a:r>
            <a:endParaRPr lang="en-US" sz="1200" dirty="0"/>
          </a:p>
          <a:p>
            <a:pPr indent="0" marL="0">
              <a:spcAft>
                <a:spcPts val="400"/>
              </a:spcAft>
              <a:buNone/>
            </a:pPr>
            <a:r>
              <a:rPr lang="en-US" sz="1200" dirty="0">
                <a:solidFill>
                  <a:srgbClr val="2C3E50"/>
                </a:solidFill>
                <a:latin typeface="Calibri" pitchFamily="34" charset="0"/>
                <a:ea typeface="Calibri" pitchFamily="34" charset="-122"/>
                <a:cs typeface="Calibri" pitchFamily="34" charset="-120"/>
              </a:rPr>
              <a:t>Nono Bokete – CEO &amp; Founder</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spcAft>
                <a:spcPts val="400"/>
              </a:spcAft>
              <a:buNone/>
            </a:pPr>
            <a:r>
              <a:rPr lang="en-US" sz="1200" b="1" dirty="0">
                <a:solidFill>
                  <a:srgbClr val="1A2B4A"/>
                </a:solidFill>
                <a:latin typeface="Calibri" pitchFamily="34" charset="0"/>
                <a:ea typeface="Calibri" pitchFamily="34" charset="-122"/>
                <a:cs typeface="Calibri" pitchFamily="34" charset="-120"/>
              </a:rPr>
              <a:t>Shareholding:</a:t>
            </a:r>
            <a:endParaRPr lang="en-US" sz="1200" dirty="0"/>
          </a:p>
          <a:p>
            <a:pPr indent="0" marL="0">
              <a:spcAft>
                <a:spcPts val="400"/>
              </a:spcAft>
              <a:buNone/>
            </a:pPr>
            <a:r>
              <a:rPr lang="en-US" sz="1200" dirty="0">
                <a:solidFill>
                  <a:srgbClr val="2C3E50"/>
                </a:solidFill>
                <a:latin typeface="Calibri" pitchFamily="34" charset="0"/>
                <a:ea typeface="Calibri" pitchFamily="34" charset="-122"/>
                <a:cs typeface="Calibri" pitchFamily="34" charset="-120"/>
              </a:rPr>
              <a:t>100% privately held by founder</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spcAft>
                <a:spcPts val="400"/>
              </a:spcAft>
              <a:buNone/>
            </a:pPr>
            <a:r>
              <a:rPr lang="en-US" sz="1200" b="1" dirty="0">
                <a:solidFill>
                  <a:srgbClr val="1A2B4A"/>
                </a:solidFill>
                <a:latin typeface="Calibri" pitchFamily="34" charset="0"/>
                <a:ea typeface="Calibri" pitchFamily="34" charset="-122"/>
                <a:cs typeface="Calibri" pitchFamily="34" charset="-120"/>
              </a:rPr>
              <a:t>Sandbox Application Submitted:</a:t>
            </a:r>
            <a:endParaRPr lang="en-US" sz="1200" dirty="0"/>
          </a:p>
          <a:p>
            <a:pPr indent="0" marL="0">
              <a:spcAft>
                <a:spcPts val="400"/>
              </a:spcAft>
              <a:buNone/>
            </a:pPr>
            <a:r>
              <a:rPr lang="en-US" sz="1200" b="1" dirty="0">
                <a:solidFill>
                  <a:srgbClr val="27AE60"/>
                </a:solidFill>
                <a:latin typeface="Calibri" pitchFamily="34" charset="0"/>
                <a:ea typeface="Calibri" pitchFamily="34" charset="-122"/>
                <a:cs typeface="Calibri" pitchFamily="34" charset="-120"/>
              </a:rPr>
              <a:t>31 March 2026 (ahead of deadline)</a:t>
            </a:r>
            <a:endParaRPr lang="en-US" sz="1200" dirty="0"/>
          </a:p>
        </p:txBody>
      </p:sp>
      <p:sp>
        <p:nvSpPr>
          <p:cNvPr id="13" name="Text 11"/>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02  |  The Problem We Solve</a:t>
            </a:r>
            <a:endParaRPr lang="en-US" sz="1800" dirty="0"/>
          </a:p>
        </p:txBody>
      </p:sp>
      <p:sp>
        <p:nvSpPr>
          <p:cNvPr id="5" name="Shape 3"/>
          <p:cNvSpPr/>
          <p:nvPr/>
        </p:nvSpPr>
        <p:spPr>
          <a:xfrm>
            <a:off x="365760" y="896112"/>
            <a:ext cx="8412480" cy="640080"/>
          </a:xfrm>
          <a:prstGeom prst="rect">
            <a:avLst/>
          </a:prstGeom>
          <a:solidFill>
            <a:srgbClr val="1A2B4A">
              <a:alpha val="90000"/>
            </a:srgbClr>
          </a:solidFill>
          <a:ln w="12700">
            <a:solidFill>
              <a:srgbClr val="1A2B4A"/>
            </a:solidFill>
            <a:prstDash val="solid"/>
          </a:ln>
        </p:spPr>
      </p:sp>
      <p:sp>
        <p:nvSpPr>
          <p:cNvPr id="6" name="Text 4"/>
          <p:cNvSpPr/>
          <p:nvPr/>
        </p:nvSpPr>
        <p:spPr>
          <a:xfrm>
            <a:off x="502920" y="914400"/>
            <a:ext cx="8138160" cy="566928"/>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Every Motswana knows the motshelo struggle. Thousands of community funds are managed informally in Botswana every month.</a:t>
            </a:r>
            <a:endParaRPr lang="en-US" sz="1300" dirty="0"/>
          </a:p>
        </p:txBody>
      </p:sp>
      <p:sp>
        <p:nvSpPr>
          <p:cNvPr id="7" name="Shape 5"/>
          <p:cNvSpPr/>
          <p:nvPr/>
        </p:nvSpPr>
        <p:spPr>
          <a:xfrm>
            <a:off x="365760" y="1719072"/>
            <a:ext cx="2057400" cy="2926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719072"/>
            <a:ext cx="2057400" cy="548640"/>
          </a:xfrm>
          <a:prstGeom prst="rect">
            <a:avLst/>
          </a:prstGeom>
          <a:solidFill>
            <a:srgbClr val="1A2B4A"/>
          </a:solidFill>
          <a:ln w="12700">
            <a:solidFill>
              <a:srgbClr val="1A2B4A"/>
            </a:solidFill>
            <a:prstDash val="solid"/>
          </a:ln>
        </p:spPr>
      </p:sp>
      <p:sp>
        <p:nvSpPr>
          <p:cNvPr id="9" name="Text 7"/>
          <p:cNvSpPr/>
          <p:nvPr/>
        </p:nvSpPr>
        <p:spPr>
          <a:xfrm>
            <a:off x="457200" y="1737360"/>
            <a:ext cx="18745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WhatsApp Chaos</a:t>
            </a:r>
            <a:endParaRPr lang="en-US" sz="1200" dirty="0"/>
          </a:p>
        </p:txBody>
      </p:sp>
      <p:sp>
        <p:nvSpPr>
          <p:cNvPr id="10" name="Text 8"/>
          <p:cNvSpPr/>
          <p:nvPr/>
        </p:nvSpPr>
        <p:spPr>
          <a:xfrm>
            <a:off x="475488" y="2331720"/>
            <a:ext cx="1828800" cy="2194560"/>
          </a:xfrm>
          <a:prstGeom prst="rect">
            <a:avLst/>
          </a:prstGeom>
          <a:noFill/>
          <a:ln/>
        </p:spPr>
        <p:txBody>
          <a:bodyPr wrap="square" rtlCol="0" anchor="t"/>
          <a:lstStyle/>
          <a:p>
            <a:pPr indent="0" marL="0">
              <a:buNone/>
            </a:pPr>
            <a:r>
              <a:rPr lang="en-US" sz="1150" dirty="0">
                <a:solidFill>
                  <a:srgbClr val="2C3E50"/>
                </a:solidFill>
                <a:latin typeface="Calibri" pitchFamily="34" charset="0"/>
                <a:ea typeface="Calibri" pitchFamily="34" charset="-122"/>
                <a:cs typeface="Calibri" pitchFamily="34" charset="-120"/>
              </a:rPr>
              <a:t>Hundreds of messages to find payment confirmations. Critical info buried and lost.</a:t>
            </a:r>
            <a:endParaRPr lang="en-US" sz="1150" dirty="0"/>
          </a:p>
        </p:txBody>
      </p:sp>
      <p:sp>
        <p:nvSpPr>
          <p:cNvPr id="11" name="Shape 9"/>
          <p:cNvSpPr/>
          <p:nvPr/>
        </p:nvSpPr>
        <p:spPr>
          <a:xfrm>
            <a:off x="2560320" y="1719072"/>
            <a:ext cx="2057400" cy="2926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560320" y="1719072"/>
            <a:ext cx="2057400" cy="548640"/>
          </a:xfrm>
          <a:prstGeom prst="rect">
            <a:avLst/>
          </a:prstGeom>
          <a:solidFill>
            <a:srgbClr val="1A2B4A"/>
          </a:solidFill>
          <a:ln w="12700">
            <a:solidFill>
              <a:srgbClr val="1A2B4A"/>
            </a:solidFill>
            <a:prstDash val="solid"/>
          </a:ln>
        </p:spPr>
      </p:sp>
      <p:sp>
        <p:nvSpPr>
          <p:cNvPr id="13" name="Text 11"/>
          <p:cNvSpPr/>
          <p:nvPr/>
        </p:nvSpPr>
        <p:spPr>
          <a:xfrm>
            <a:off x="2651760" y="1737360"/>
            <a:ext cx="18745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Lost Records</a:t>
            </a:r>
            <a:endParaRPr lang="en-US" sz="1200" dirty="0"/>
          </a:p>
        </p:txBody>
      </p:sp>
      <p:sp>
        <p:nvSpPr>
          <p:cNvPr id="14" name="Text 12"/>
          <p:cNvSpPr/>
          <p:nvPr/>
        </p:nvSpPr>
        <p:spPr>
          <a:xfrm>
            <a:off x="2670048" y="2331720"/>
            <a:ext cx="1828800" cy="2194560"/>
          </a:xfrm>
          <a:prstGeom prst="rect">
            <a:avLst/>
          </a:prstGeom>
          <a:noFill/>
          <a:ln/>
        </p:spPr>
        <p:txBody>
          <a:bodyPr wrap="square" rtlCol="0" anchor="t"/>
          <a:lstStyle/>
          <a:p>
            <a:pPr indent="0" marL="0">
              <a:buNone/>
            </a:pPr>
            <a:r>
              <a:rPr lang="en-US" sz="1150" dirty="0">
                <a:solidFill>
                  <a:srgbClr val="2C3E50"/>
                </a:solidFill>
                <a:latin typeface="Calibri" pitchFamily="34" charset="0"/>
                <a:ea typeface="Calibri" pitchFamily="34" charset="-122"/>
                <a:cs typeface="Calibri" pitchFamily="34" charset="-120"/>
              </a:rPr>
              <a:t>Paper lists disappear. No backup. When the organiser is unavailable, no one knows the status.</a:t>
            </a:r>
            <a:endParaRPr lang="en-US" sz="1150" dirty="0"/>
          </a:p>
        </p:txBody>
      </p:sp>
      <p:sp>
        <p:nvSpPr>
          <p:cNvPr id="15" name="Shape 13"/>
          <p:cNvSpPr/>
          <p:nvPr/>
        </p:nvSpPr>
        <p:spPr>
          <a:xfrm>
            <a:off x="4754880" y="1719072"/>
            <a:ext cx="2057400" cy="2926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754880" y="1719072"/>
            <a:ext cx="2057400" cy="548640"/>
          </a:xfrm>
          <a:prstGeom prst="rect">
            <a:avLst/>
          </a:prstGeom>
          <a:solidFill>
            <a:srgbClr val="1A2B4A"/>
          </a:solidFill>
          <a:ln w="12700">
            <a:solidFill>
              <a:srgbClr val="1A2B4A"/>
            </a:solidFill>
            <a:prstDash val="solid"/>
          </a:ln>
        </p:spPr>
      </p:sp>
      <p:sp>
        <p:nvSpPr>
          <p:cNvPr id="17" name="Text 15"/>
          <p:cNvSpPr/>
          <p:nvPr/>
        </p:nvSpPr>
        <p:spPr>
          <a:xfrm>
            <a:off x="4846320" y="1737360"/>
            <a:ext cx="18745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No Transparency</a:t>
            </a:r>
            <a:endParaRPr lang="en-US" sz="1200" dirty="0"/>
          </a:p>
        </p:txBody>
      </p:sp>
      <p:sp>
        <p:nvSpPr>
          <p:cNvPr id="18" name="Text 16"/>
          <p:cNvSpPr/>
          <p:nvPr/>
        </p:nvSpPr>
        <p:spPr>
          <a:xfrm>
            <a:off x="4864608" y="2331720"/>
            <a:ext cx="1828800" cy="2194560"/>
          </a:xfrm>
          <a:prstGeom prst="rect">
            <a:avLst/>
          </a:prstGeom>
          <a:noFill/>
          <a:ln/>
        </p:spPr>
        <p:txBody>
          <a:bodyPr wrap="square" rtlCol="0" anchor="t"/>
          <a:lstStyle/>
          <a:p>
            <a:pPr indent="0" marL="0">
              <a:buNone/>
            </a:pPr>
            <a:r>
              <a:rPr lang="en-US" sz="1150" dirty="0">
                <a:solidFill>
                  <a:srgbClr val="2C3E50"/>
                </a:solidFill>
                <a:latin typeface="Calibri" pitchFamily="34" charset="0"/>
                <a:ea typeface="Calibri" pitchFamily="34" charset="-122"/>
                <a:cs typeface="Calibri" pitchFamily="34" charset="-120"/>
              </a:rPr>
              <a:t>'Where did all the money go?' Without expense tracking, suspicion and resentment build.</a:t>
            </a:r>
            <a:endParaRPr lang="en-US" sz="1150" dirty="0"/>
          </a:p>
        </p:txBody>
      </p:sp>
      <p:sp>
        <p:nvSpPr>
          <p:cNvPr id="19" name="Shape 17"/>
          <p:cNvSpPr/>
          <p:nvPr/>
        </p:nvSpPr>
        <p:spPr>
          <a:xfrm>
            <a:off x="6949440" y="1719072"/>
            <a:ext cx="2057400" cy="2926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949440" y="1719072"/>
            <a:ext cx="2057400" cy="548640"/>
          </a:xfrm>
          <a:prstGeom prst="rect">
            <a:avLst/>
          </a:prstGeom>
          <a:solidFill>
            <a:srgbClr val="1A2B4A"/>
          </a:solidFill>
          <a:ln w="12700">
            <a:solidFill>
              <a:srgbClr val="1A2B4A"/>
            </a:solidFill>
            <a:prstDash val="solid"/>
          </a:ln>
        </p:spPr>
      </p:sp>
      <p:sp>
        <p:nvSpPr>
          <p:cNvPr id="21" name="Text 19"/>
          <p:cNvSpPr/>
          <p:nvPr/>
        </p:nvSpPr>
        <p:spPr>
          <a:xfrm>
            <a:off x="7040880" y="1737360"/>
            <a:ext cx="18745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Family Drama</a:t>
            </a:r>
            <a:endParaRPr lang="en-US" sz="1200" dirty="0"/>
          </a:p>
        </p:txBody>
      </p:sp>
      <p:sp>
        <p:nvSpPr>
          <p:cNvPr id="22" name="Text 20"/>
          <p:cNvSpPr/>
          <p:nvPr/>
        </p:nvSpPr>
        <p:spPr>
          <a:xfrm>
            <a:off x="7059168" y="2331720"/>
            <a:ext cx="1828800" cy="2194560"/>
          </a:xfrm>
          <a:prstGeom prst="rect">
            <a:avLst/>
          </a:prstGeom>
          <a:noFill/>
          <a:ln/>
        </p:spPr>
        <p:txBody>
          <a:bodyPr wrap="square" rtlCol="0" anchor="t"/>
          <a:lstStyle/>
          <a:p>
            <a:pPr indent="0" marL="0">
              <a:buNone/>
            </a:pPr>
            <a:r>
              <a:rPr lang="en-US" sz="1150" dirty="0">
                <a:solidFill>
                  <a:srgbClr val="2C3E50"/>
                </a:solidFill>
                <a:latin typeface="Calibri" pitchFamily="34" charset="0"/>
                <a:ea typeface="Calibri" pitchFamily="34" charset="-122"/>
                <a:cs typeface="Calibri" pitchFamily="34" charset="-120"/>
              </a:rPr>
              <a:t>Disputes about who paid, accusations of mismanagement—during already difficult times.</a:t>
            </a:r>
            <a:endParaRPr lang="en-US" sz="1150" dirty="0"/>
          </a:p>
        </p:txBody>
      </p:sp>
      <p:sp>
        <p:nvSpPr>
          <p:cNvPr id="23" name="Text 21"/>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02  |  Innovation Overview – What is Tshelo?</a:t>
            </a:r>
            <a:endParaRPr lang="en-US" sz="1800" dirty="0"/>
          </a:p>
        </p:txBody>
      </p:sp>
      <p:sp>
        <p:nvSpPr>
          <p:cNvPr id="5" name="Shape 3"/>
          <p:cNvSpPr/>
          <p:nvPr/>
        </p:nvSpPr>
        <p:spPr>
          <a:xfrm>
            <a:off x="365760" y="896112"/>
            <a:ext cx="3931920" cy="39319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896112"/>
            <a:ext cx="3931920" cy="438912"/>
          </a:xfrm>
          <a:prstGeom prst="rect">
            <a:avLst/>
          </a:prstGeom>
          <a:solidFill>
            <a:srgbClr val="00897B"/>
          </a:solidFill>
          <a:ln w="12700">
            <a:solidFill>
              <a:srgbClr val="00897B"/>
            </a:solidFill>
            <a:prstDash val="solid"/>
          </a:ln>
        </p:spPr>
      </p:sp>
      <p:sp>
        <p:nvSpPr>
          <p:cNvPr id="7" name="Text 5"/>
          <p:cNvSpPr/>
          <p:nvPr/>
        </p:nvSpPr>
        <p:spPr>
          <a:xfrm>
            <a:off x="457200" y="914400"/>
            <a:ext cx="37490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TSHELO IS</a:t>
            </a:r>
            <a:endParaRPr lang="en-US" sz="1400" dirty="0"/>
          </a:p>
        </p:txBody>
      </p:sp>
      <p:sp>
        <p:nvSpPr>
          <p:cNvPr id="8" name="Text 6"/>
          <p:cNvSpPr/>
          <p:nvPr/>
        </p:nvSpPr>
        <p:spPr>
          <a:xfrm>
            <a:off x="502920" y="1417320"/>
            <a:ext cx="3657600" cy="3246120"/>
          </a:xfrm>
          <a:prstGeom prst="rect">
            <a:avLst/>
          </a:prstGeom>
          <a:noFill/>
          <a:ln/>
        </p:spPr>
        <p:txBody>
          <a:bodyPr wrap="square" rtlCol="0" anchor="ctr"/>
          <a:lstStyle/>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transparency &amp; record-keeping tool</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contribution tracking platform</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An expense documentation system</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An audit report generator</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closed-loop, invite-only community tool</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An SMS-detection-based recording app</a:t>
            </a:r>
            <a:endParaRPr lang="en-US" sz="1250" dirty="0"/>
          </a:p>
        </p:txBody>
      </p:sp>
      <p:sp>
        <p:nvSpPr>
          <p:cNvPr id="9" name="Shape 7"/>
          <p:cNvSpPr/>
          <p:nvPr/>
        </p:nvSpPr>
        <p:spPr>
          <a:xfrm>
            <a:off x="4846320" y="896112"/>
            <a:ext cx="3931920" cy="39319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846320" y="896112"/>
            <a:ext cx="3931920" cy="438912"/>
          </a:xfrm>
          <a:prstGeom prst="rect">
            <a:avLst/>
          </a:prstGeom>
          <a:solidFill>
            <a:srgbClr val="E74C3C"/>
          </a:solidFill>
          <a:ln w="12700">
            <a:solidFill>
              <a:srgbClr val="E74C3C"/>
            </a:solidFill>
            <a:prstDash val="solid"/>
          </a:ln>
        </p:spPr>
      </p:sp>
      <p:sp>
        <p:nvSpPr>
          <p:cNvPr id="11" name="Text 9"/>
          <p:cNvSpPr/>
          <p:nvPr/>
        </p:nvSpPr>
        <p:spPr>
          <a:xfrm>
            <a:off x="4937760" y="914400"/>
            <a:ext cx="37490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TSHELO IS NOT</a:t>
            </a:r>
            <a:endParaRPr lang="en-US" sz="1400" dirty="0"/>
          </a:p>
        </p:txBody>
      </p:sp>
      <p:sp>
        <p:nvSpPr>
          <p:cNvPr id="12" name="Text 10"/>
          <p:cNvSpPr/>
          <p:nvPr/>
        </p:nvSpPr>
        <p:spPr>
          <a:xfrm>
            <a:off x="4983480" y="1417320"/>
            <a:ext cx="3657600" cy="3246120"/>
          </a:xfrm>
          <a:prstGeom prst="rect">
            <a:avLst/>
          </a:prstGeom>
          <a:noFill/>
          <a:ln/>
        </p:spPr>
        <p:txBody>
          <a:bodyPr wrap="square" rtlCol="0" anchor="ctr"/>
          <a:lstStyle/>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payment processor</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money holder or custodian</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bank or financial institution</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mobile money provider</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crowdfunding or GoFundMe platform</a:t>
            </a:r>
            <a:endParaRPr lang="en-US" sz="1250" dirty="0"/>
          </a:p>
          <a:p>
            <a:pPr marL="342900" indent="-342900">
              <a:spcAft>
                <a:spcPts val="800"/>
              </a:spcAft>
              <a:buSzPct val="100000"/>
              <a:buChar char="•"/>
            </a:pPr>
            <a:r>
              <a:rPr lang="en-US" sz="1250" dirty="0">
                <a:solidFill>
                  <a:srgbClr val="2C3E50"/>
                </a:solidFill>
                <a:latin typeface="Calibri" pitchFamily="34" charset="0"/>
                <a:ea typeface="Calibri" pitchFamily="34" charset="-122"/>
                <a:cs typeface="Calibri" pitchFamily="34" charset="-120"/>
              </a:rPr>
              <a:t>A sender or receiver of funds at any time</a:t>
            </a:r>
            <a:endParaRPr lang="en-US" sz="1250" dirty="0"/>
          </a:p>
        </p:txBody>
      </p:sp>
      <p:sp>
        <p:nvSpPr>
          <p:cNvPr id="13" name="Text 11"/>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03  |  Alignment with Sandbox Theme</a:t>
            </a:r>
            <a:endParaRPr lang="en-US" sz="1800" dirty="0"/>
          </a:p>
        </p:txBody>
      </p:sp>
      <p:sp>
        <p:nvSpPr>
          <p:cNvPr id="5" name="Shape 3"/>
          <p:cNvSpPr/>
          <p:nvPr/>
        </p:nvSpPr>
        <p:spPr>
          <a:xfrm>
            <a:off x="365760" y="914400"/>
            <a:ext cx="3931920"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914400"/>
            <a:ext cx="164592" cy="1783080"/>
          </a:xfrm>
          <a:prstGeom prst="rect">
            <a:avLst/>
          </a:prstGeom>
          <a:solidFill>
            <a:srgbClr val="00897B"/>
          </a:solidFill>
          <a:ln w="12700">
            <a:solidFill>
              <a:srgbClr val="00897B"/>
            </a:solidFill>
            <a:prstDash val="solid"/>
          </a:ln>
        </p:spPr>
      </p:sp>
      <p:sp>
        <p:nvSpPr>
          <p:cNvPr id="7" name="Text 5"/>
          <p:cNvSpPr/>
          <p:nvPr/>
        </p:nvSpPr>
        <p:spPr>
          <a:xfrm>
            <a:off x="621792" y="1005840"/>
            <a:ext cx="3566160" cy="347472"/>
          </a:xfrm>
          <a:prstGeom prst="rect">
            <a:avLst/>
          </a:prstGeom>
          <a:noFill/>
          <a:ln/>
        </p:spPr>
        <p:txBody>
          <a:bodyPr wrap="square" lIns="0" tIns="0" rIns="0" bIns="0" rtlCol="0" anchor="ctr"/>
          <a:lstStyle/>
          <a:p>
            <a:pPr indent="0" marL="0">
              <a:buNone/>
            </a:pPr>
            <a:r>
              <a:rPr lang="en-US" sz="1200" b="1" dirty="0">
                <a:solidFill>
                  <a:srgbClr val="00897B"/>
                </a:solidFill>
                <a:latin typeface="Calibri" pitchFamily="34" charset="0"/>
                <a:ea typeface="Calibri" pitchFamily="34" charset="-122"/>
                <a:cs typeface="Calibri" pitchFamily="34" charset="-120"/>
              </a:rPr>
              <a:t>Financial Inclusion</a:t>
            </a:r>
            <a:endParaRPr lang="en-US" sz="1200" dirty="0"/>
          </a:p>
        </p:txBody>
      </p:sp>
      <p:sp>
        <p:nvSpPr>
          <p:cNvPr id="8" name="Text 6"/>
          <p:cNvSpPr/>
          <p:nvPr/>
        </p:nvSpPr>
        <p:spPr>
          <a:xfrm>
            <a:off x="621792" y="1389888"/>
            <a:ext cx="3566160" cy="123444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Tshelo digitises informal community funds (motshelo) that serve millions of Batswana excluded from formal banking. Families and groups who rely on cash and WhatsApp gain access to accountable, transparent financial coordination tools.</a:t>
            </a:r>
            <a:endParaRPr lang="en-US" sz="1100" dirty="0"/>
          </a:p>
        </p:txBody>
      </p:sp>
      <p:sp>
        <p:nvSpPr>
          <p:cNvPr id="9" name="Shape 7"/>
          <p:cNvSpPr/>
          <p:nvPr/>
        </p:nvSpPr>
        <p:spPr>
          <a:xfrm>
            <a:off x="365760" y="2880360"/>
            <a:ext cx="3931920"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65760" y="2880360"/>
            <a:ext cx="164592" cy="1783080"/>
          </a:xfrm>
          <a:prstGeom prst="rect">
            <a:avLst/>
          </a:prstGeom>
          <a:solidFill>
            <a:srgbClr val="1A2B4A"/>
          </a:solidFill>
          <a:ln w="12700">
            <a:solidFill>
              <a:srgbClr val="1A2B4A"/>
            </a:solidFill>
            <a:prstDash val="solid"/>
          </a:ln>
        </p:spPr>
      </p:sp>
      <p:sp>
        <p:nvSpPr>
          <p:cNvPr id="11" name="Text 9"/>
          <p:cNvSpPr/>
          <p:nvPr/>
        </p:nvSpPr>
        <p:spPr>
          <a:xfrm>
            <a:off x="621792" y="2971800"/>
            <a:ext cx="3566160" cy="34747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Innovation Not Covered by Existing Frameworks</a:t>
            </a:r>
            <a:endParaRPr lang="en-US" sz="1200" dirty="0"/>
          </a:p>
        </p:txBody>
      </p:sp>
      <p:sp>
        <p:nvSpPr>
          <p:cNvPr id="12" name="Text 10"/>
          <p:cNvSpPr/>
          <p:nvPr/>
        </p:nvSpPr>
        <p:spPr>
          <a:xfrm>
            <a:off x="621792" y="3355848"/>
            <a:ext cx="3566160" cy="123444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Tshelo's SMS-based contribution detection is a novel approach with no existing regulatory category. It is neither a payment service nor a bank product — it sits in a transparency and accountability layer that current EPS regulations do not address.</a:t>
            </a:r>
            <a:endParaRPr lang="en-US" sz="1100" dirty="0"/>
          </a:p>
        </p:txBody>
      </p:sp>
      <p:sp>
        <p:nvSpPr>
          <p:cNvPr id="13" name="Shape 11"/>
          <p:cNvSpPr/>
          <p:nvPr/>
        </p:nvSpPr>
        <p:spPr>
          <a:xfrm>
            <a:off x="4846320" y="914400"/>
            <a:ext cx="3931920"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846320" y="914400"/>
            <a:ext cx="164592" cy="1783080"/>
          </a:xfrm>
          <a:prstGeom prst="rect">
            <a:avLst/>
          </a:prstGeom>
          <a:solidFill>
            <a:srgbClr val="E8A020"/>
          </a:solidFill>
          <a:ln w="12700">
            <a:solidFill>
              <a:srgbClr val="E8A020"/>
            </a:solidFill>
            <a:prstDash val="solid"/>
          </a:ln>
        </p:spPr>
      </p:sp>
      <p:sp>
        <p:nvSpPr>
          <p:cNvPr id="15" name="Text 13"/>
          <p:cNvSpPr/>
          <p:nvPr/>
        </p:nvSpPr>
        <p:spPr>
          <a:xfrm>
            <a:off x="5102352" y="1005840"/>
            <a:ext cx="3566160" cy="347472"/>
          </a:xfrm>
          <a:prstGeom prst="rect">
            <a:avLst/>
          </a:prstGeom>
          <a:noFill/>
          <a:ln/>
        </p:spPr>
        <p:txBody>
          <a:bodyPr wrap="square" lIns="0" tIns="0" rIns="0" bIns="0"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Consumer Protection &amp; Trust</a:t>
            </a:r>
            <a:endParaRPr lang="en-US" sz="1200" dirty="0"/>
          </a:p>
        </p:txBody>
      </p:sp>
      <p:sp>
        <p:nvSpPr>
          <p:cNvPr id="16" name="Text 14"/>
          <p:cNvSpPr/>
          <p:nvPr/>
        </p:nvSpPr>
        <p:spPr>
          <a:xfrm>
            <a:off x="5102352" y="1389888"/>
            <a:ext cx="3566160" cy="123444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Tshelo provides a full audit trail, dispute flagging, receipt documentation, and PDF reports — ensuring accountability in community fund management, where disputes, mistrust, and family conflict are common.</a:t>
            </a:r>
            <a:endParaRPr lang="en-US" sz="1100" dirty="0"/>
          </a:p>
        </p:txBody>
      </p:sp>
      <p:sp>
        <p:nvSpPr>
          <p:cNvPr id="17" name="Shape 15"/>
          <p:cNvSpPr/>
          <p:nvPr/>
        </p:nvSpPr>
        <p:spPr>
          <a:xfrm>
            <a:off x="4846320" y="2880360"/>
            <a:ext cx="3931920"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846320" y="2880360"/>
            <a:ext cx="164592" cy="1783080"/>
          </a:xfrm>
          <a:prstGeom prst="rect">
            <a:avLst/>
          </a:prstGeom>
          <a:solidFill>
            <a:srgbClr val="2A3F6A"/>
          </a:solidFill>
          <a:ln w="12700">
            <a:solidFill>
              <a:srgbClr val="2A3F6A"/>
            </a:solidFill>
            <a:prstDash val="solid"/>
          </a:ln>
        </p:spPr>
      </p:sp>
      <p:sp>
        <p:nvSpPr>
          <p:cNvPr id="19" name="Text 17"/>
          <p:cNvSpPr/>
          <p:nvPr/>
        </p:nvSpPr>
        <p:spPr>
          <a:xfrm>
            <a:off x="5102352" y="2971800"/>
            <a:ext cx="3566160" cy="347472"/>
          </a:xfrm>
          <a:prstGeom prst="rect">
            <a:avLst/>
          </a:prstGeom>
          <a:noFill/>
          <a:ln/>
        </p:spPr>
        <p:txBody>
          <a:bodyPr wrap="square" lIns="0" tIns="0" rIns="0" bIns="0" rtlCol="0" anchor="ctr"/>
          <a:lstStyle/>
          <a:p>
            <a:pPr indent="0" marL="0">
              <a:buNone/>
            </a:pPr>
            <a:r>
              <a:rPr lang="en-US" sz="1200" b="1" dirty="0">
                <a:solidFill>
                  <a:srgbClr val="2A3F6A"/>
                </a:solidFill>
                <a:latin typeface="Calibri" pitchFamily="34" charset="0"/>
                <a:ea typeface="Calibri" pitchFamily="34" charset="-122"/>
                <a:cs typeface="Calibri" pitchFamily="34" charset="-120"/>
              </a:rPr>
              <a:t>Supporting Mobile Money Ecosystem</a:t>
            </a:r>
            <a:endParaRPr lang="en-US" sz="1200" dirty="0"/>
          </a:p>
        </p:txBody>
      </p:sp>
      <p:sp>
        <p:nvSpPr>
          <p:cNvPr id="20" name="Text 18"/>
          <p:cNvSpPr/>
          <p:nvPr/>
        </p:nvSpPr>
        <p:spPr>
          <a:xfrm>
            <a:off x="5102352" y="3355848"/>
            <a:ext cx="3566160" cy="123444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Rather than competing with Orange Money, MyZaka, and Smega, Tshelo provides complementary record-keeping infrastructure that increases trust in and usage of existing mobile money services in Botswana.</a:t>
            </a:r>
            <a:endParaRPr lang="en-US" sz="1100" dirty="0"/>
          </a:p>
        </p:txBody>
      </p:sp>
      <p:sp>
        <p:nvSpPr>
          <p:cNvPr id="21" name="Text 19"/>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04  |  Sandbox Requirements Compliance Checklist</a:t>
            </a:r>
            <a:endParaRPr lang="en-US" sz="1800" dirty="0"/>
          </a:p>
        </p:txBody>
      </p:sp>
      <p:sp>
        <p:nvSpPr>
          <p:cNvPr id="5" name="Shape 3"/>
          <p:cNvSpPr/>
          <p:nvPr/>
        </p:nvSpPr>
        <p:spPr>
          <a:xfrm>
            <a:off x="365760" y="914400"/>
            <a:ext cx="8412480" cy="384048"/>
          </a:xfrm>
          <a:prstGeom prst="rect">
            <a:avLst/>
          </a:prstGeom>
          <a:solidFill>
            <a:srgbClr val="FFFFFF"/>
          </a:solidFill>
          <a:ln w="12700">
            <a:solidFill>
              <a:srgbClr val="E8ECF0"/>
            </a:solidFill>
            <a:prstDash val="solid"/>
          </a:ln>
        </p:spPr>
      </p:sp>
      <p:sp>
        <p:nvSpPr>
          <p:cNvPr id="6" name="Text 4"/>
          <p:cNvSpPr/>
          <p:nvPr/>
        </p:nvSpPr>
        <p:spPr>
          <a:xfrm>
            <a:off x="384048" y="950976"/>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7" name="Text 5"/>
          <p:cNvSpPr/>
          <p:nvPr/>
        </p:nvSpPr>
        <p:spPr>
          <a:xfrm>
            <a:off x="868680" y="960120"/>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Genuine innovation not covered by existing regulatory framework</a:t>
            </a:r>
            <a:endParaRPr lang="en-US" sz="1050" dirty="0"/>
          </a:p>
        </p:txBody>
      </p:sp>
      <p:sp>
        <p:nvSpPr>
          <p:cNvPr id="8" name="Text 6"/>
          <p:cNvSpPr/>
          <p:nvPr/>
        </p:nvSpPr>
        <p:spPr>
          <a:xfrm>
            <a:off x="4160520" y="960120"/>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Tshelo's SMS-detection transparency layer has no existing category under EPS or Banking Act</a:t>
            </a:r>
            <a:endParaRPr lang="en-US" sz="1000" dirty="0"/>
          </a:p>
        </p:txBody>
      </p:sp>
      <p:sp>
        <p:nvSpPr>
          <p:cNvPr id="9" name="Shape 7"/>
          <p:cNvSpPr/>
          <p:nvPr/>
        </p:nvSpPr>
        <p:spPr>
          <a:xfrm>
            <a:off x="365760" y="1335024"/>
            <a:ext cx="8412480" cy="384048"/>
          </a:xfrm>
          <a:prstGeom prst="rect">
            <a:avLst/>
          </a:prstGeom>
          <a:solidFill>
            <a:srgbClr val="F7F8FA"/>
          </a:solidFill>
          <a:ln w="12700">
            <a:solidFill>
              <a:srgbClr val="E8ECF0"/>
            </a:solidFill>
            <a:prstDash val="solid"/>
          </a:ln>
        </p:spPr>
      </p:sp>
      <p:sp>
        <p:nvSpPr>
          <p:cNvPr id="10" name="Text 8"/>
          <p:cNvSpPr/>
          <p:nvPr/>
        </p:nvSpPr>
        <p:spPr>
          <a:xfrm>
            <a:off x="384048" y="1371600"/>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1" name="Text 9"/>
          <p:cNvSpPr/>
          <p:nvPr/>
        </p:nvSpPr>
        <p:spPr>
          <a:xfrm>
            <a:off x="868680" y="1380744"/>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Proof of concept or pilot ready for testing</a:t>
            </a:r>
            <a:endParaRPr lang="en-US" sz="1050" dirty="0"/>
          </a:p>
        </p:txBody>
      </p:sp>
      <p:sp>
        <p:nvSpPr>
          <p:cNvPr id="12" name="Text 10"/>
          <p:cNvSpPr/>
          <p:nvPr/>
        </p:nvSpPr>
        <p:spPr>
          <a:xfrm>
            <a:off x="4160520" y="1380744"/>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React Native app built; OTP auth, fund creation, SMS parse, PDF export functional</a:t>
            </a:r>
            <a:endParaRPr lang="en-US" sz="1000" dirty="0"/>
          </a:p>
        </p:txBody>
      </p:sp>
      <p:sp>
        <p:nvSpPr>
          <p:cNvPr id="13" name="Shape 11"/>
          <p:cNvSpPr/>
          <p:nvPr/>
        </p:nvSpPr>
        <p:spPr>
          <a:xfrm>
            <a:off x="365760" y="1755648"/>
            <a:ext cx="8412480" cy="384048"/>
          </a:xfrm>
          <a:prstGeom prst="rect">
            <a:avLst/>
          </a:prstGeom>
          <a:solidFill>
            <a:srgbClr val="FFFFFF"/>
          </a:solidFill>
          <a:ln w="12700">
            <a:solidFill>
              <a:srgbClr val="E8ECF0"/>
            </a:solidFill>
            <a:prstDash val="solid"/>
          </a:ln>
        </p:spPr>
      </p:sp>
      <p:sp>
        <p:nvSpPr>
          <p:cNvPr id="14" name="Text 12"/>
          <p:cNvSpPr/>
          <p:nvPr/>
        </p:nvSpPr>
        <p:spPr>
          <a:xfrm>
            <a:off x="384048" y="1792224"/>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5" name="Text 13"/>
          <p:cNvSpPr/>
          <p:nvPr/>
        </p:nvSpPr>
        <p:spPr>
          <a:xfrm>
            <a:off x="868680" y="1801368"/>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Clear consumer benefit and protection measures</a:t>
            </a:r>
            <a:endParaRPr lang="en-US" sz="1050" dirty="0"/>
          </a:p>
        </p:txBody>
      </p:sp>
      <p:sp>
        <p:nvSpPr>
          <p:cNvPr id="16" name="Text 14"/>
          <p:cNvSpPr/>
          <p:nvPr/>
        </p:nvSpPr>
        <p:spPr>
          <a:xfrm>
            <a:off x="4160520" y="1801368"/>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Full audit trail, dispute flagging, export rights, 24-48hr support response</a:t>
            </a:r>
            <a:endParaRPr lang="en-US" sz="1000" dirty="0"/>
          </a:p>
        </p:txBody>
      </p:sp>
      <p:sp>
        <p:nvSpPr>
          <p:cNvPr id="17" name="Shape 15"/>
          <p:cNvSpPr/>
          <p:nvPr/>
        </p:nvSpPr>
        <p:spPr>
          <a:xfrm>
            <a:off x="365760" y="2176272"/>
            <a:ext cx="8412480" cy="384048"/>
          </a:xfrm>
          <a:prstGeom prst="rect">
            <a:avLst/>
          </a:prstGeom>
          <a:solidFill>
            <a:srgbClr val="F7F8FA"/>
          </a:solidFill>
          <a:ln w="12700">
            <a:solidFill>
              <a:srgbClr val="E8ECF0"/>
            </a:solidFill>
            <a:prstDash val="solid"/>
          </a:ln>
        </p:spPr>
      </p:sp>
      <p:sp>
        <p:nvSpPr>
          <p:cNvPr id="18" name="Text 16"/>
          <p:cNvSpPr/>
          <p:nvPr/>
        </p:nvSpPr>
        <p:spPr>
          <a:xfrm>
            <a:off x="384048" y="2212848"/>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9" name="Text 17"/>
          <p:cNvSpPr/>
          <p:nvPr/>
        </p:nvSpPr>
        <p:spPr>
          <a:xfrm>
            <a:off x="868680" y="2221992"/>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Risk management and AML/CFT framework in place</a:t>
            </a:r>
            <a:endParaRPr lang="en-US" sz="1050" dirty="0"/>
          </a:p>
        </p:txBody>
      </p:sp>
      <p:sp>
        <p:nvSpPr>
          <p:cNvPr id="20" name="Text 18"/>
          <p:cNvSpPr/>
          <p:nvPr/>
        </p:nvSpPr>
        <p:spPr>
          <a:xfrm>
            <a:off x="4160520" y="2221992"/>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AML/CFT Framework submitted; Section 40 FIA 2022 general reporting addressed</a:t>
            </a:r>
            <a:endParaRPr lang="en-US" sz="1000" dirty="0"/>
          </a:p>
        </p:txBody>
      </p:sp>
      <p:sp>
        <p:nvSpPr>
          <p:cNvPr id="21" name="Shape 19"/>
          <p:cNvSpPr/>
          <p:nvPr/>
        </p:nvSpPr>
        <p:spPr>
          <a:xfrm>
            <a:off x="365760" y="2596896"/>
            <a:ext cx="8412480" cy="384048"/>
          </a:xfrm>
          <a:prstGeom prst="rect">
            <a:avLst/>
          </a:prstGeom>
          <a:solidFill>
            <a:srgbClr val="FFFFFF"/>
          </a:solidFill>
          <a:ln w="12700">
            <a:solidFill>
              <a:srgbClr val="E8ECF0"/>
            </a:solidFill>
            <a:prstDash val="solid"/>
          </a:ln>
        </p:spPr>
      </p:sp>
      <p:sp>
        <p:nvSpPr>
          <p:cNvPr id="22" name="Text 20"/>
          <p:cNvSpPr/>
          <p:nvPr/>
        </p:nvSpPr>
        <p:spPr>
          <a:xfrm>
            <a:off x="384048" y="2633472"/>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3" name="Text 21"/>
          <p:cNvSpPr/>
          <p:nvPr/>
        </p:nvSpPr>
        <p:spPr>
          <a:xfrm>
            <a:off x="868680" y="2642616"/>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Defined test plan with objectives, scope, and metrics</a:t>
            </a:r>
            <a:endParaRPr lang="en-US" sz="1050" dirty="0"/>
          </a:p>
        </p:txBody>
      </p:sp>
      <p:sp>
        <p:nvSpPr>
          <p:cNvPr id="24" name="Text 22"/>
          <p:cNvSpPr/>
          <p:nvPr/>
        </p:nvSpPr>
        <p:spPr>
          <a:xfrm>
            <a:off x="4160520" y="2642616"/>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6-month plan across 4 scenarios; 17 KPIs; monthly BoB reporting</a:t>
            </a:r>
            <a:endParaRPr lang="en-US" sz="1000" dirty="0"/>
          </a:p>
        </p:txBody>
      </p:sp>
      <p:sp>
        <p:nvSpPr>
          <p:cNvPr id="25" name="Shape 23"/>
          <p:cNvSpPr/>
          <p:nvPr/>
        </p:nvSpPr>
        <p:spPr>
          <a:xfrm>
            <a:off x="365760" y="3017520"/>
            <a:ext cx="8412480" cy="384048"/>
          </a:xfrm>
          <a:prstGeom prst="rect">
            <a:avLst/>
          </a:prstGeom>
          <a:solidFill>
            <a:srgbClr val="F7F8FA"/>
          </a:solidFill>
          <a:ln w="12700">
            <a:solidFill>
              <a:srgbClr val="E8ECF0"/>
            </a:solidFill>
            <a:prstDash val="solid"/>
          </a:ln>
        </p:spPr>
      </p:sp>
      <p:sp>
        <p:nvSpPr>
          <p:cNvPr id="26" name="Text 24"/>
          <p:cNvSpPr/>
          <p:nvPr/>
        </p:nvSpPr>
        <p:spPr>
          <a:xfrm>
            <a:off x="384048" y="3054096"/>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7" name="Text 25"/>
          <p:cNvSpPr/>
          <p:nvPr/>
        </p:nvSpPr>
        <p:spPr>
          <a:xfrm>
            <a:off x="868680" y="3063240"/>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Exit / resolution plan in the event the sandbox is not approved</a:t>
            </a:r>
            <a:endParaRPr lang="en-US" sz="1050" dirty="0"/>
          </a:p>
        </p:txBody>
      </p:sp>
      <p:sp>
        <p:nvSpPr>
          <p:cNvPr id="28" name="Text 26"/>
          <p:cNvSpPr/>
          <p:nvPr/>
        </p:nvSpPr>
        <p:spPr>
          <a:xfrm>
            <a:off x="4160520" y="3063240"/>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Exit Resolution Plan submitted; data portability and user notification plan ready</a:t>
            </a:r>
            <a:endParaRPr lang="en-US" sz="1000" dirty="0"/>
          </a:p>
        </p:txBody>
      </p:sp>
      <p:sp>
        <p:nvSpPr>
          <p:cNvPr id="29" name="Shape 27"/>
          <p:cNvSpPr/>
          <p:nvPr/>
        </p:nvSpPr>
        <p:spPr>
          <a:xfrm>
            <a:off x="365760" y="3438144"/>
            <a:ext cx="8412480" cy="384048"/>
          </a:xfrm>
          <a:prstGeom prst="rect">
            <a:avLst/>
          </a:prstGeom>
          <a:solidFill>
            <a:srgbClr val="FFFFFF"/>
          </a:solidFill>
          <a:ln w="12700">
            <a:solidFill>
              <a:srgbClr val="E8ECF0"/>
            </a:solidFill>
            <a:prstDash val="solid"/>
          </a:ln>
        </p:spPr>
      </p:sp>
      <p:sp>
        <p:nvSpPr>
          <p:cNvPr id="30" name="Text 28"/>
          <p:cNvSpPr/>
          <p:nvPr/>
        </p:nvSpPr>
        <p:spPr>
          <a:xfrm>
            <a:off x="384048" y="3474720"/>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1" name="Text 29"/>
          <p:cNvSpPr/>
          <p:nvPr/>
        </p:nvSpPr>
        <p:spPr>
          <a:xfrm>
            <a:off x="868680" y="3483864"/>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ICT and Cybersecurity controls</a:t>
            </a:r>
            <a:endParaRPr lang="en-US" sz="1050" dirty="0"/>
          </a:p>
        </p:txBody>
      </p:sp>
      <p:sp>
        <p:nvSpPr>
          <p:cNvPr id="32" name="Text 30"/>
          <p:cNvSpPr/>
          <p:nvPr/>
        </p:nvSpPr>
        <p:spPr>
          <a:xfrm>
            <a:off x="4160520" y="3483864"/>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ICT &amp; Cybersecurity Framework submitted; Supabase RLS enforced at database level</a:t>
            </a:r>
            <a:endParaRPr lang="en-US" sz="1000" dirty="0"/>
          </a:p>
        </p:txBody>
      </p:sp>
      <p:sp>
        <p:nvSpPr>
          <p:cNvPr id="33" name="Shape 31"/>
          <p:cNvSpPr/>
          <p:nvPr/>
        </p:nvSpPr>
        <p:spPr>
          <a:xfrm>
            <a:off x="365760" y="3858768"/>
            <a:ext cx="8412480" cy="384048"/>
          </a:xfrm>
          <a:prstGeom prst="rect">
            <a:avLst/>
          </a:prstGeom>
          <a:solidFill>
            <a:srgbClr val="F7F8FA"/>
          </a:solidFill>
          <a:ln w="12700">
            <a:solidFill>
              <a:srgbClr val="E8ECF0"/>
            </a:solidFill>
            <a:prstDash val="solid"/>
          </a:ln>
        </p:spPr>
      </p:sp>
      <p:sp>
        <p:nvSpPr>
          <p:cNvPr id="34" name="Text 32"/>
          <p:cNvSpPr/>
          <p:nvPr/>
        </p:nvSpPr>
        <p:spPr>
          <a:xfrm>
            <a:off x="384048" y="3895344"/>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5" name="Text 33"/>
          <p:cNvSpPr/>
          <p:nvPr/>
        </p:nvSpPr>
        <p:spPr>
          <a:xfrm>
            <a:off x="868680" y="3904488"/>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Business Continuity Plan</a:t>
            </a:r>
            <a:endParaRPr lang="en-US" sz="1050" dirty="0"/>
          </a:p>
        </p:txBody>
      </p:sp>
      <p:sp>
        <p:nvSpPr>
          <p:cNvPr id="36" name="Text 34"/>
          <p:cNvSpPr/>
          <p:nvPr/>
        </p:nvSpPr>
        <p:spPr>
          <a:xfrm>
            <a:off x="4160520" y="3904488"/>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BCP submitted covering uptime, data backup, incident response</a:t>
            </a:r>
            <a:endParaRPr lang="en-US" sz="1000" dirty="0"/>
          </a:p>
        </p:txBody>
      </p:sp>
      <p:sp>
        <p:nvSpPr>
          <p:cNvPr id="37" name="Shape 35"/>
          <p:cNvSpPr/>
          <p:nvPr/>
        </p:nvSpPr>
        <p:spPr>
          <a:xfrm>
            <a:off x="365760" y="4279392"/>
            <a:ext cx="8412480" cy="384048"/>
          </a:xfrm>
          <a:prstGeom prst="rect">
            <a:avLst/>
          </a:prstGeom>
          <a:solidFill>
            <a:srgbClr val="FFFFFF"/>
          </a:solidFill>
          <a:ln w="12700">
            <a:solidFill>
              <a:srgbClr val="E8ECF0"/>
            </a:solidFill>
            <a:prstDash val="solid"/>
          </a:ln>
        </p:spPr>
      </p:sp>
      <p:sp>
        <p:nvSpPr>
          <p:cNvPr id="38" name="Text 36"/>
          <p:cNvSpPr/>
          <p:nvPr/>
        </p:nvSpPr>
        <p:spPr>
          <a:xfrm>
            <a:off x="384048" y="4315968"/>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9" name="Text 37"/>
          <p:cNvSpPr/>
          <p:nvPr/>
        </p:nvSpPr>
        <p:spPr>
          <a:xfrm>
            <a:off x="868680" y="4325112"/>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Complaints handling procedure</a:t>
            </a:r>
            <a:endParaRPr lang="en-US" sz="1050" dirty="0"/>
          </a:p>
        </p:txBody>
      </p:sp>
      <p:sp>
        <p:nvSpPr>
          <p:cNvPr id="40" name="Text 38"/>
          <p:cNvSpPr/>
          <p:nvPr/>
        </p:nvSpPr>
        <p:spPr>
          <a:xfrm>
            <a:off x="4160520" y="4325112"/>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Complaints Handling Procedure submitted; in-app + email + phone channels</a:t>
            </a:r>
            <a:endParaRPr lang="en-US" sz="1000" dirty="0"/>
          </a:p>
        </p:txBody>
      </p:sp>
      <p:sp>
        <p:nvSpPr>
          <p:cNvPr id="41" name="Shape 39"/>
          <p:cNvSpPr/>
          <p:nvPr/>
        </p:nvSpPr>
        <p:spPr>
          <a:xfrm>
            <a:off x="365760" y="4700016"/>
            <a:ext cx="8412480" cy="384048"/>
          </a:xfrm>
          <a:prstGeom prst="rect">
            <a:avLst/>
          </a:prstGeom>
          <a:solidFill>
            <a:srgbClr val="F7F8FA"/>
          </a:solidFill>
          <a:ln w="12700">
            <a:solidFill>
              <a:srgbClr val="E8ECF0"/>
            </a:solidFill>
            <a:prstDash val="solid"/>
          </a:ln>
        </p:spPr>
      </p:sp>
      <p:sp>
        <p:nvSpPr>
          <p:cNvPr id="42" name="Text 40"/>
          <p:cNvSpPr/>
          <p:nvPr/>
        </p:nvSpPr>
        <p:spPr>
          <a:xfrm>
            <a:off x="384048" y="4736592"/>
            <a:ext cx="411480"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3" name="Text 41"/>
          <p:cNvSpPr/>
          <p:nvPr/>
        </p:nvSpPr>
        <p:spPr>
          <a:xfrm>
            <a:off x="868680" y="4745736"/>
            <a:ext cx="3200400" cy="292608"/>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Customer communication plan</a:t>
            </a:r>
            <a:endParaRPr lang="en-US" sz="1050" dirty="0"/>
          </a:p>
        </p:txBody>
      </p:sp>
      <p:sp>
        <p:nvSpPr>
          <p:cNvPr id="44" name="Text 42"/>
          <p:cNvSpPr/>
          <p:nvPr/>
        </p:nvSpPr>
        <p:spPr>
          <a:xfrm>
            <a:off x="4160520" y="4745736"/>
            <a:ext cx="4572000" cy="292608"/>
          </a:xfrm>
          <a:prstGeom prst="rect">
            <a:avLst/>
          </a:prstGeom>
          <a:noFill/>
          <a:ln/>
        </p:spPr>
        <p:txBody>
          <a:bodyPr wrap="square" lIns="0" tIns="0" rIns="0" bIns="0" rtlCol="0" anchor="ctr"/>
          <a:lstStyle/>
          <a:p>
            <a:pPr indent="0" marL="0">
              <a:buNone/>
            </a:pPr>
            <a:r>
              <a:rPr lang="en-US" sz="1000" i="1" dirty="0">
                <a:solidFill>
                  <a:srgbClr val="6B7A8D"/>
                </a:solidFill>
                <a:latin typeface="Calibri" pitchFamily="34" charset="0"/>
                <a:ea typeface="Calibri" pitchFamily="34" charset="-122"/>
                <a:cs typeface="Calibri" pitchFamily="34" charset="-120"/>
              </a:rPr>
              <a:t>Customer Communication Plan submitted; plain-language risk disclosures included</a:t>
            </a:r>
            <a:endParaRPr lang="en-US" sz="1000" dirty="0"/>
          </a:p>
        </p:txBody>
      </p:sp>
      <p:sp>
        <p:nvSpPr>
          <p:cNvPr id="45" name="Text 43"/>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05  |  Solution Workflow &amp; User Journey</a:t>
            </a:r>
            <a:endParaRPr lang="en-US" sz="1800" dirty="0"/>
          </a:p>
        </p:txBody>
      </p:sp>
      <p:sp>
        <p:nvSpPr>
          <p:cNvPr id="5" name="Shape 3"/>
          <p:cNvSpPr/>
          <p:nvPr/>
        </p:nvSpPr>
        <p:spPr>
          <a:xfrm>
            <a:off x="640080" y="914400"/>
            <a:ext cx="685800" cy="685800"/>
          </a:xfrm>
          <a:prstGeom prst="ellipse">
            <a:avLst/>
          </a:prstGeom>
          <a:solidFill>
            <a:srgbClr val="00897B"/>
          </a:solidFill>
          <a:ln w="12700">
            <a:solidFill>
              <a:srgbClr val="00897B"/>
            </a:solidFill>
            <a:prstDash val="solid"/>
          </a:ln>
        </p:spPr>
      </p:sp>
      <p:sp>
        <p:nvSpPr>
          <p:cNvPr id="6" name="Text 4"/>
          <p:cNvSpPr/>
          <p:nvPr/>
        </p:nvSpPr>
        <p:spPr>
          <a:xfrm>
            <a:off x="640080"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Shape 5"/>
          <p:cNvSpPr/>
          <p:nvPr/>
        </p:nvSpPr>
        <p:spPr>
          <a:xfrm>
            <a:off x="1344168" y="1188720"/>
            <a:ext cx="365760" cy="54864"/>
          </a:xfrm>
          <a:prstGeom prst="rect">
            <a:avLst/>
          </a:prstGeom>
          <a:solidFill>
            <a:srgbClr val="E8A020"/>
          </a:solidFill>
          <a:ln w="12700">
            <a:solidFill>
              <a:srgbClr val="E8A020"/>
            </a:solidFill>
            <a:prstDash val="solid"/>
          </a:ln>
        </p:spPr>
      </p:sp>
      <p:sp>
        <p:nvSpPr>
          <p:cNvPr id="8" name="Text 6"/>
          <p:cNvSpPr/>
          <p:nvPr/>
        </p:nvSpPr>
        <p:spPr>
          <a:xfrm>
            <a:off x="1627632" y="1069848"/>
            <a:ext cx="182880" cy="274320"/>
          </a:xfrm>
          <a:prstGeom prst="rect">
            <a:avLst/>
          </a:prstGeom>
          <a:noFill/>
          <a:ln/>
        </p:spPr>
        <p:txBody>
          <a:bodyPr wrap="square" lIns="0" tIns="0" rIns="0" bIns="0" rtlCol="0" anchor="ctr"/>
          <a:lstStyle/>
          <a:p>
            <a:pPr indent="0" marL="0">
              <a:buNone/>
            </a:pPr>
            <a:r>
              <a:rPr lang="en-US" sz="1000" dirty="0">
                <a:solidFill>
                  <a:srgbClr val="E8A020"/>
                </a:solidFill>
              </a:rPr>
              <a:t>▶</a:t>
            </a:r>
            <a:endParaRPr lang="en-US" sz="1000" dirty="0"/>
          </a:p>
        </p:txBody>
      </p:sp>
      <p:sp>
        <p:nvSpPr>
          <p:cNvPr id="9" name="Shape 7"/>
          <p:cNvSpPr/>
          <p:nvPr/>
        </p:nvSpPr>
        <p:spPr>
          <a:xfrm>
            <a:off x="320040"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1719072"/>
            <a:ext cx="1371600" cy="54864"/>
          </a:xfrm>
          <a:prstGeom prst="rect">
            <a:avLst/>
          </a:prstGeom>
          <a:solidFill>
            <a:srgbClr val="00897B"/>
          </a:solidFill>
          <a:ln w="12700">
            <a:solidFill>
              <a:srgbClr val="00897B"/>
            </a:solidFill>
            <a:prstDash val="solid"/>
          </a:ln>
        </p:spPr>
      </p:sp>
      <p:sp>
        <p:nvSpPr>
          <p:cNvPr id="11" name="Text 9"/>
          <p:cNvSpPr/>
          <p:nvPr/>
        </p:nvSpPr>
        <p:spPr>
          <a:xfrm>
            <a:off x="374904"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Register</a:t>
            </a:r>
            <a:endParaRPr lang="en-US" sz="1200" dirty="0"/>
          </a:p>
        </p:txBody>
      </p:sp>
      <p:sp>
        <p:nvSpPr>
          <p:cNvPr id="12" name="Text 10"/>
          <p:cNvSpPr/>
          <p:nvPr/>
        </p:nvSpPr>
        <p:spPr>
          <a:xfrm>
            <a:off x="374904"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Phone number + OTP verification. Select mobile money provider.</a:t>
            </a:r>
            <a:endParaRPr lang="en-US" sz="1050" dirty="0"/>
          </a:p>
        </p:txBody>
      </p:sp>
      <p:sp>
        <p:nvSpPr>
          <p:cNvPr id="13" name="Shape 11"/>
          <p:cNvSpPr/>
          <p:nvPr/>
        </p:nvSpPr>
        <p:spPr>
          <a:xfrm>
            <a:off x="2066544" y="914400"/>
            <a:ext cx="685800" cy="685800"/>
          </a:xfrm>
          <a:prstGeom prst="ellipse">
            <a:avLst/>
          </a:prstGeom>
          <a:solidFill>
            <a:srgbClr val="00897B"/>
          </a:solidFill>
          <a:ln w="12700">
            <a:solidFill>
              <a:srgbClr val="00897B"/>
            </a:solidFill>
            <a:prstDash val="solid"/>
          </a:ln>
        </p:spPr>
      </p:sp>
      <p:sp>
        <p:nvSpPr>
          <p:cNvPr id="14" name="Text 12"/>
          <p:cNvSpPr/>
          <p:nvPr/>
        </p:nvSpPr>
        <p:spPr>
          <a:xfrm>
            <a:off x="2066544"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Shape 13"/>
          <p:cNvSpPr/>
          <p:nvPr/>
        </p:nvSpPr>
        <p:spPr>
          <a:xfrm>
            <a:off x="2770632" y="1188720"/>
            <a:ext cx="365760" cy="54864"/>
          </a:xfrm>
          <a:prstGeom prst="rect">
            <a:avLst/>
          </a:prstGeom>
          <a:solidFill>
            <a:srgbClr val="E8A020"/>
          </a:solidFill>
          <a:ln w="12700">
            <a:solidFill>
              <a:srgbClr val="E8A020"/>
            </a:solidFill>
            <a:prstDash val="solid"/>
          </a:ln>
        </p:spPr>
      </p:sp>
      <p:sp>
        <p:nvSpPr>
          <p:cNvPr id="16" name="Text 14"/>
          <p:cNvSpPr/>
          <p:nvPr/>
        </p:nvSpPr>
        <p:spPr>
          <a:xfrm>
            <a:off x="3054096" y="1069848"/>
            <a:ext cx="182880" cy="274320"/>
          </a:xfrm>
          <a:prstGeom prst="rect">
            <a:avLst/>
          </a:prstGeom>
          <a:noFill/>
          <a:ln/>
        </p:spPr>
        <p:txBody>
          <a:bodyPr wrap="square" lIns="0" tIns="0" rIns="0" bIns="0" rtlCol="0" anchor="ctr"/>
          <a:lstStyle/>
          <a:p>
            <a:pPr indent="0" marL="0">
              <a:buNone/>
            </a:pPr>
            <a:r>
              <a:rPr lang="en-US" sz="1000" dirty="0">
                <a:solidFill>
                  <a:srgbClr val="E8A020"/>
                </a:solidFill>
              </a:rPr>
              <a:t>▶</a:t>
            </a:r>
            <a:endParaRPr lang="en-US" sz="1000" dirty="0"/>
          </a:p>
        </p:txBody>
      </p:sp>
      <p:sp>
        <p:nvSpPr>
          <p:cNvPr id="17" name="Shape 15"/>
          <p:cNvSpPr/>
          <p:nvPr/>
        </p:nvSpPr>
        <p:spPr>
          <a:xfrm>
            <a:off x="1746504"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1746504" y="1719072"/>
            <a:ext cx="1371600" cy="54864"/>
          </a:xfrm>
          <a:prstGeom prst="rect">
            <a:avLst/>
          </a:prstGeom>
          <a:solidFill>
            <a:srgbClr val="00897B"/>
          </a:solidFill>
          <a:ln w="12700">
            <a:solidFill>
              <a:srgbClr val="00897B"/>
            </a:solidFill>
            <a:prstDash val="solid"/>
          </a:ln>
        </p:spPr>
      </p:sp>
      <p:sp>
        <p:nvSpPr>
          <p:cNvPr id="19" name="Text 17"/>
          <p:cNvSpPr/>
          <p:nvPr/>
        </p:nvSpPr>
        <p:spPr>
          <a:xfrm>
            <a:off x="1801368"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Create Fund</a:t>
            </a:r>
            <a:endParaRPr lang="en-US" sz="1200" dirty="0"/>
          </a:p>
        </p:txBody>
      </p:sp>
      <p:sp>
        <p:nvSpPr>
          <p:cNvPr id="20" name="Text 18"/>
          <p:cNvSpPr/>
          <p:nvPr/>
        </p:nvSpPr>
        <p:spPr>
          <a:xfrm>
            <a:off x="1801368"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Choose fund type (Funeral/Wedding etc). Set goal, add members via link.</a:t>
            </a:r>
            <a:endParaRPr lang="en-US" sz="1050" dirty="0"/>
          </a:p>
        </p:txBody>
      </p:sp>
      <p:sp>
        <p:nvSpPr>
          <p:cNvPr id="21" name="Shape 19"/>
          <p:cNvSpPr/>
          <p:nvPr/>
        </p:nvSpPr>
        <p:spPr>
          <a:xfrm>
            <a:off x="3493008" y="914400"/>
            <a:ext cx="685800" cy="685800"/>
          </a:xfrm>
          <a:prstGeom prst="ellipse">
            <a:avLst/>
          </a:prstGeom>
          <a:solidFill>
            <a:srgbClr val="00897B"/>
          </a:solidFill>
          <a:ln w="12700">
            <a:solidFill>
              <a:srgbClr val="00897B"/>
            </a:solidFill>
            <a:prstDash val="solid"/>
          </a:ln>
        </p:spPr>
      </p:sp>
      <p:sp>
        <p:nvSpPr>
          <p:cNvPr id="22" name="Text 20"/>
          <p:cNvSpPr/>
          <p:nvPr/>
        </p:nvSpPr>
        <p:spPr>
          <a:xfrm>
            <a:off x="3493008"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3" name="Shape 21"/>
          <p:cNvSpPr/>
          <p:nvPr/>
        </p:nvSpPr>
        <p:spPr>
          <a:xfrm>
            <a:off x="4197096" y="1188720"/>
            <a:ext cx="365760" cy="54864"/>
          </a:xfrm>
          <a:prstGeom prst="rect">
            <a:avLst/>
          </a:prstGeom>
          <a:solidFill>
            <a:srgbClr val="E8A020"/>
          </a:solidFill>
          <a:ln w="12700">
            <a:solidFill>
              <a:srgbClr val="E8A020"/>
            </a:solidFill>
            <a:prstDash val="solid"/>
          </a:ln>
        </p:spPr>
      </p:sp>
      <p:sp>
        <p:nvSpPr>
          <p:cNvPr id="24" name="Text 22"/>
          <p:cNvSpPr/>
          <p:nvPr/>
        </p:nvSpPr>
        <p:spPr>
          <a:xfrm>
            <a:off x="4480560" y="1069848"/>
            <a:ext cx="182880" cy="274320"/>
          </a:xfrm>
          <a:prstGeom prst="rect">
            <a:avLst/>
          </a:prstGeom>
          <a:noFill/>
          <a:ln/>
        </p:spPr>
        <p:txBody>
          <a:bodyPr wrap="square" lIns="0" tIns="0" rIns="0" bIns="0" rtlCol="0" anchor="ctr"/>
          <a:lstStyle/>
          <a:p>
            <a:pPr indent="0" marL="0">
              <a:buNone/>
            </a:pPr>
            <a:r>
              <a:rPr lang="en-US" sz="1000" dirty="0">
                <a:solidFill>
                  <a:srgbClr val="E8A020"/>
                </a:solidFill>
              </a:rPr>
              <a:t>▶</a:t>
            </a:r>
            <a:endParaRPr lang="en-US" sz="1000" dirty="0"/>
          </a:p>
        </p:txBody>
      </p:sp>
      <p:sp>
        <p:nvSpPr>
          <p:cNvPr id="25" name="Shape 23"/>
          <p:cNvSpPr/>
          <p:nvPr/>
        </p:nvSpPr>
        <p:spPr>
          <a:xfrm>
            <a:off x="3172968"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172968" y="1719072"/>
            <a:ext cx="1371600" cy="54864"/>
          </a:xfrm>
          <a:prstGeom prst="rect">
            <a:avLst/>
          </a:prstGeom>
          <a:solidFill>
            <a:srgbClr val="00897B"/>
          </a:solidFill>
          <a:ln w="12700">
            <a:solidFill>
              <a:srgbClr val="00897B"/>
            </a:solidFill>
            <a:prstDash val="solid"/>
          </a:ln>
        </p:spPr>
      </p:sp>
      <p:sp>
        <p:nvSpPr>
          <p:cNvPr id="27" name="Text 25"/>
          <p:cNvSpPr/>
          <p:nvPr/>
        </p:nvSpPr>
        <p:spPr>
          <a:xfrm>
            <a:off x="3227832"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Members Pay</a:t>
            </a:r>
            <a:endParaRPr lang="en-US" sz="1200" dirty="0"/>
          </a:p>
        </p:txBody>
      </p:sp>
      <p:sp>
        <p:nvSpPr>
          <p:cNvPr id="28" name="Text 26"/>
          <p:cNvSpPr/>
          <p:nvPr/>
        </p:nvSpPr>
        <p:spPr>
          <a:xfrm>
            <a:off x="3227832"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Contributors send money directly to organiser via Orange Money / MyZaka / Smega.</a:t>
            </a:r>
            <a:endParaRPr lang="en-US" sz="1050" dirty="0"/>
          </a:p>
        </p:txBody>
      </p:sp>
      <p:sp>
        <p:nvSpPr>
          <p:cNvPr id="29" name="Shape 27"/>
          <p:cNvSpPr/>
          <p:nvPr/>
        </p:nvSpPr>
        <p:spPr>
          <a:xfrm>
            <a:off x="4919472" y="914400"/>
            <a:ext cx="685800" cy="685800"/>
          </a:xfrm>
          <a:prstGeom prst="ellipse">
            <a:avLst/>
          </a:prstGeom>
          <a:solidFill>
            <a:srgbClr val="00897B"/>
          </a:solidFill>
          <a:ln w="12700">
            <a:solidFill>
              <a:srgbClr val="00897B"/>
            </a:solidFill>
            <a:prstDash val="solid"/>
          </a:ln>
        </p:spPr>
      </p:sp>
      <p:sp>
        <p:nvSpPr>
          <p:cNvPr id="30" name="Text 28"/>
          <p:cNvSpPr/>
          <p:nvPr/>
        </p:nvSpPr>
        <p:spPr>
          <a:xfrm>
            <a:off x="4919472"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1" name="Shape 29"/>
          <p:cNvSpPr/>
          <p:nvPr/>
        </p:nvSpPr>
        <p:spPr>
          <a:xfrm>
            <a:off x="5623560" y="1188720"/>
            <a:ext cx="365760" cy="54864"/>
          </a:xfrm>
          <a:prstGeom prst="rect">
            <a:avLst/>
          </a:prstGeom>
          <a:solidFill>
            <a:srgbClr val="E8A020"/>
          </a:solidFill>
          <a:ln w="12700">
            <a:solidFill>
              <a:srgbClr val="E8A020"/>
            </a:solidFill>
            <a:prstDash val="solid"/>
          </a:ln>
        </p:spPr>
      </p:sp>
      <p:sp>
        <p:nvSpPr>
          <p:cNvPr id="32" name="Text 30"/>
          <p:cNvSpPr/>
          <p:nvPr/>
        </p:nvSpPr>
        <p:spPr>
          <a:xfrm>
            <a:off x="5907024" y="1069848"/>
            <a:ext cx="182880" cy="274320"/>
          </a:xfrm>
          <a:prstGeom prst="rect">
            <a:avLst/>
          </a:prstGeom>
          <a:noFill/>
          <a:ln/>
        </p:spPr>
        <p:txBody>
          <a:bodyPr wrap="square" lIns="0" tIns="0" rIns="0" bIns="0" rtlCol="0" anchor="ctr"/>
          <a:lstStyle/>
          <a:p>
            <a:pPr indent="0" marL="0">
              <a:buNone/>
            </a:pPr>
            <a:r>
              <a:rPr lang="en-US" sz="1000" dirty="0">
                <a:solidFill>
                  <a:srgbClr val="E8A020"/>
                </a:solidFill>
              </a:rPr>
              <a:t>▶</a:t>
            </a:r>
            <a:endParaRPr lang="en-US" sz="1000" dirty="0"/>
          </a:p>
        </p:txBody>
      </p:sp>
      <p:sp>
        <p:nvSpPr>
          <p:cNvPr id="33" name="Shape 31"/>
          <p:cNvSpPr/>
          <p:nvPr/>
        </p:nvSpPr>
        <p:spPr>
          <a:xfrm>
            <a:off x="4599432"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4599432" y="1719072"/>
            <a:ext cx="1371600" cy="54864"/>
          </a:xfrm>
          <a:prstGeom prst="rect">
            <a:avLst/>
          </a:prstGeom>
          <a:solidFill>
            <a:srgbClr val="00897B"/>
          </a:solidFill>
          <a:ln w="12700">
            <a:solidFill>
              <a:srgbClr val="00897B"/>
            </a:solidFill>
            <a:prstDash val="solid"/>
          </a:ln>
        </p:spPr>
      </p:sp>
      <p:sp>
        <p:nvSpPr>
          <p:cNvPr id="35" name="Text 33"/>
          <p:cNvSpPr/>
          <p:nvPr/>
        </p:nvSpPr>
        <p:spPr>
          <a:xfrm>
            <a:off x="4654296"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Record</a:t>
            </a:r>
            <a:endParaRPr lang="en-US" sz="1200" dirty="0"/>
          </a:p>
        </p:txBody>
      </p:sp>
      <p:sp>
        <p:nvSpPr>
          <p:cNvPr id="36" name="Text 34"/>
          <p:cNvSpPr/>
          <p:nvPr/>
        </p:nvSpPr>
        <p:spPr>
          <a:xfrm>
            <a:off x="4654296"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Organiser pastes received SMS. Tshelo auto-detects amount &amp; sender. Confirmed &amp; logged.</a:t>
            </a:r>
            <a:endParaRPr lang="en-US" sz="1050" dirty="0"/>
          </a:p>
        </p:txBody>
      </p:sp>
      <p:sp>
        <p:nvSpPr>
          <p:cNvPr id="37" name="Shape 35"/>
          <p:cNvSpPr/>
          <p:nvPr/>
        </p:nvSpPr>
        <p:spPr>
          <a:xfrm>
            <a:off x="6345936" y="914400"/>
            <a:ext cx="685800" cy="685800"/>
          </a:xfrm>
          <a:prstGeom prst="ellipse">
            <a:avLst/>
          </a:prstGeom>
          <a:solidFill>
            <a:srgbClr val="00897B"/>
          </a:solidFill>
          <a:ln w="12700">
            <a:solidFill>
              <a:srgbClr val="00897B"/>
            </a:solidFill>
            <a:prstDash val="solid"/>
          </a:ln>
        </p:spPr>
      </p:sp>
      <p:sp>
        <p:nvSpPr>
          <p:cNvPr id="38" name="Text 36"/>
          <p:cNvSpPr/>
          <p:nvPr/>
        </p:nvSpPr>
        <p:spPr>
          <a:xfrm>
            <a:off x="6345936"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9" name="Shape 37"/>
          <p:cNvSpPr/>
          <p:nvPr/>
        </p:nvSpPr>
        <p:spPr>
          <a:xfrm>
            <a:off x="7050024" y="1188720"/>
            <a:ext cx="365760" cy="54864"/>
          </a:xfrm>
          <a:prstGeom prst="rect">
            <a:avLst/>
          </a:prstGeom>
          <a:solidFill>
            <a:srgbClr val="E8A020"/>
          </a:solidFill>
          <a:ln w="12700">
            <a:solidFill>
              <a:srgbClr val="E8A020"/>
            </a:solidFill>
            <a:prstDash val="solid"/>
          </a:ln>
        </p:spPr>
      </p:sp>
      <p:sp>
        <p:nvSpPr>
          <p:cNvPr id="40" name="Text 38"/>
          <p:cNvSpPr/>
          <p:nvPr/>
        </p:nvSpPr>
        <p:spPr>
          <a:xfrm>
            <a:off x="7333488" y="1069848"/>
            <a:ext cx="182880" cy="274320"/>
          </a:xfrm>
          <a:prstGeom prst="rect">
            <a:avLst/>
          </a:prstGeom>
          <a:noFill/>
          <a:ln/>
        </p:spPr>
        <p:txBody>
          <a:bodyPr wrap="square" lIns="0" tIns="0" rIns="0" bIns="0" rtlCol="0" anchor="ctr"/>
          <a:lstStyle/>
          <a:p>
            <a:pPr indent="0" marL="0">
              <a:buNone/>
            </a:pPr>
            <a:r>
              <a:rPr lang="en-US" sz="1000" dirty="0">
                <a:solidFill>
                  <a:srgbClr val="E8A020"/>
                </a:solidFill>
              </a:rPr>
              <a:t>▶</a:t>
            </a:r>
            <a:endParaRPr lang="en-US" sz="1000" dirty="0"/>
          </a:p>
        </p:txBody>
      </p:sp>
      <p:sp>
        <p:nvSpPr>
          <p:cNvPr id="41" name="Shape 39"/>
          <p:cNvSpPr/>
          <p:nvPr/>
        </p:nvSpPr>
        <p:spPr>
          <a:xfrm>
            <a:off x="6025896"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6025896" y="1719072"/>
            <a:ext cx="1371600" cy="54864"/>
          </a:xfrm>
          <a:prstGeom prst="rect">
            <a:avLst/>
          </a:prstGeom>
          <a:solidFill>
            <a:srgbClr val="00897B"/>
          </a:solidFill>
          <a:ln w="12700">
            <a:solidFill>
              <a:srgbClr val="00897B"/>
            </a:solidFill>
            <a:prstDash val="solid"/>
          </a:ln>
        </p:spPr>
      </p:sp>
      <p:sp>
        <p:nvSpPr>
          <p:cNvPr id="43" name="Text 41"/>
          <p:cNvSpPr/>
          <p:nvPr/>
        </p:nvSpPr>
        <p:spPr>
          <a:xfrm>
            <a:off x="6080760"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Track Expenses</a:t>
            </a:r>
            <a:endParaRPr lang="en-US" sz="1200" dirty="0"/>
          </a:p>
        </p:txBody>
      </p:sp>
      <p:sp>
        <p:nvSpPr>
          <p:cNvPr id="44" name="Text 42"/>
          <p:cNvSpPr/>
          <p:nvPr/>
        </p:nvSpPr>
        <p:spPr>
          <a:xfrm>
            <a:off x="6080760"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Scan receipts. AI extracts vendor, amount, category. Visible to all members.</a:t>
            </a:r>
            <a:endParaRPr lang="en-US" sz="1050" dirty="0"/>
          </a:p>
        </p:txBody>
      </p:sp>
      <p:sp>
        <p:nvSpPr>
          <p:cNvPr id="45" name="Shape 43"/>
          <p:cNvSpPr/>
          <p:nvPr/>
        </p:nvSpPr>
        <p:spPr>
          <a:xfrm>
            <a:off x="7772400" y="914400"/>
            <a:ext cx="685800" cy="685800"/>
          </a:xfrm>
          <a:prstGeom prst="ellipse">
            <a:avLst/>
          </a:prstGeom>
          <a:solidFill>
            <a:srgbClr val="00897B"/>
          </a:solidFill>
          <a:ln w="12700">
            <a:solidFill>
              <a:srgbClr val="00897B"/>
            </a:solidFill>
            <a:prstDash val="solid"/>
          </a:ln>
        </p:spPr>
      </p:sp>
      <p:sp>
        <p:nvSpPr>
          <p:cNvPr id="46" name="Text 44"/>
          <p:cNvSpPr/>
          <p:nvPr/>
        </p:nvSpPr>
        <p:spPr>
          <a:xfrm>
            <a:off x="7772400" y="9144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7" name="Shape 45"/>
          <p:cNvSpPr/>
          <p:nvPr/>
        </p:nvSpPr>
        <p:spPr>
          <a:xfrm>
            <a:off x="7452360" y="1719072"/>
            <a:ext cx="1371600" cy="3063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48" name="Shape 46"/>
          <p:cNvSpPr/>
          <p:nvPr/>
        </p:nvSpPr>
        <p:spPr>
          <a:xfrm>
            <a:off x="7452360" y="1719072"/>
            <a:ext cx="1371600" cy="54864"/>
          </a:xfrm>
          <a:prstGeom prst="rect">
            <a:avLst/>
          </a:prstGeom>
          <a:solidFill>
            <a:srgbClr val="00897B"/>
          </a:solidFill>
          <a:ln w="12700">
            <a:solidFill>
              <a:srgbClr val="00897B"/>
            </a:solidFill>
            <a:prstDash val="solid"/>
          </a:ln>
        </p:spPr>
      </p:sp>
      <p:sp>
        <p:nvSpPr>
          <p:cNvPr id="49" name="Text 47"/>
          <p:cNvSpPr/>
          <p:nvPr/>
        </p:nvSpPr>
        <p:spPr>
          <a:xfrm>
            <a:off x="7507224" y="1828800"/>
            <a:ext cx="1261872" cy="365760"/>
          </a:xfrm>
          <a:prstGeom prst="rect">
            <a:avLst/>
          </a:prstGeom>
          <a:noFill/>
          <a:ln/>
        </p:spPr>
        <p:txBody>
          <a:bodyPr wrap="square" lIns="0" tIns="0" rIns="0" bIns="0" rtlCol="0" anchor="ctr"/>
          <a:lstStyle/>
          <a:p>
            <a:pPr algn="ctr" indent="0" marL="0">
              <a:buNone/>
            </a:pPr>
            <a:r>
              <a:rPr lang="en-US" sz="1200" b="1" dirty="0">
                <a:solidFill>
                  <a:srgbClr val="1A2B4A"/>
                </a:solidFill>
                <a:latin typeface="Calibri" pitchFamily="34" charset="0"/>
                <a:ea typeface="Calibri" pitchFamily="34" charset="-122"/>
                <a:cs typeface="Calibri" pitchFamily="34" charset="-120"/>
              </a:rPr>
              <a:t>Close &amp; Report</a:t>
            </a:r>
            <a:endParaRPr lang="en-US" sz="1200" dirty="0"/>
          </a:p>
        </p:txBody>
      </p:sp>
      <p:sp>
        <p:nvSpPr>
          <p:cNvPr id="50" name="Text 48"/>
          <p:cNvSpPr/>
          <p:nvPr/>
        </p:nvSpPr>
        <p:spPr>
          <a:xfrm>
            <a:off x="7507224" y="2267712"/>
            <a:ext cx="1261872" cy="242316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Fund closed. Full PDF audit report generated — every contribution &amp; expense logged.</a:t>
            </a:r>
            <a:endParaRPr lang="en-US" sz="1050" dirty="0"/>
          </a:p>
        </p:txBody>
      </p:sp>
      <p:sp>
        <p:nvSpPr>
          <p:cNvPr id="51" name="Shape 49"/>
          <p:cNvSpPr/>
          <p:nvPr/>
        </p:nvSpPr>
        <p:spPr>
          <a:xfrm>
            <a:off x="0" y="4709160"/>
            <a:ext cx="9144000" cy="429768"/>
          </a:xfrm>
          <a:prstGeom prst="rect">
            <a:avLst/>
          </a:prstGeom>
          <a:solidFill>
            <a:srgbClr val="D6E0EE"/>
          </a:solidFill>
          <a:ln w="12700">
            <a:solidFill>
              <a:srgbClr val="D6E0EE"/>
            </a:solidFill>
            <a:prstDash val="solid"/>
          </a:ln>
        </p:spPr>
      </p:sp>
      <p:sp>
        <p:nvSpPr>
          <p:cNvPr id="52" name="Text 50"/>
          <p:cNvSpPr/>
          <p:nvPr/>
        </p:nvSpPr>
        <p:spPr>
          <a:xfrm>
            <a:off x="274320" y="4736592"/>
            <a:ext cx="8595360" cy="365760"/>
          </a:xfrm>
          <a:prstGeom prst="rect">
            <a:avLst/>
          </a:prstGeom>
          <a:noFill/>
          <a:ln/>
        </p:spPr>
        <p:txBody>
          <a:bodyPr wrap="square" lIns="0" tIns="0" rIns="0" bIns="0" rtlCol="0" anchor="ctr"/>
          <a:lstStyle/>
          <a:p>
            <a:pPr algn="ctr" indent="0" marL="0">
              <a:buNone/>
            </a:pPr>
            <a:r>
              <a:rPr lang="en-US" sz="1100" b="1" dirty="0">
                <a:solidFill>
                  <a:srgbClr val="1A2B4A"/>
                </a:solidFill>
                <a:latin typeface="Calibri" pitchFamily="34" charset="0"/>
                <a:ea typeface="Calibri" pitchFamily="34" charset="-122"/>
                <a:cs typeface="Calibri" pitchFamily="34" charset="-120"/>
              </a:rPr>
              <a:t>Key Partners: Orange Money  |  MyZaka  |  Smega  |  BTC (SMS Infrastructure)</a:t>
            </a:r>
            <a:endParaRPr lang="en-US" sz="1100" dirty="0"/>
          </a:p>
        </p:txBody>
      </p:sp>
      <p:sp>
        <p:nvSpPr>
          <p:cNvPr id="53" name="Text 51"/>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FFFFFF"/>
                </a:solidFill>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06  |  Flow of Customer Funds</a:t>
            </a:r>
            <a:endParaRPr lang="en-US" sz="1800" dirty="0"/>
          </a:p>
        </p:txBody>
      </p:sp>
      <p:sp>
        <p:nvSpPr>
          <p:cNvPr id="5" name="Shape 3"/>
          <p:cNvSpPr/>
          <p:nvPr/>
        </p:nvSpPr>
        <p:spPr>
          <a:xfrm>
            <a:off x="365760" y="868680"/>
            <a:ext cx="8412480" cy="658368"/>
          </a:xfrm>
          <a:prstGeom prst="rect">
            <a:avLst/>
          </a:prstGeom>
          <a:solidFill>
            <a:srgbClr val="00897B"/>
          </a:solidFill>
          <a:ln w="12700">
            <a:solidFill>
              <a:srgbClr val="00897B"/>
            </a:solidFill>
            <a:prstDash val="solid"/>
          </a:ln>
        </p:spPr>
      </p:sp>
      <p:sp>
        <p:nvSpPr>
          <p:cNvPr id="6" name="Text 4"/>
          <p:cNvSpPr/>
          <p:nvPr/>
        </p:nvSpPr>
        <p:spPr>
          <a:xfrm>
            <a:off x="457200" y="896112"/>
            <a:ext cx="82296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TSHELO NEVER RECEIVES, HOLDS, MOVES, OR PROCESSES ANY CUSTOMER FUNDS.</a:t>
            </a:r>
            <a:endParaRPr lang="en-US" sz="1400" dirty="0"/>
          </a:p>
        </p:txBody>
      </p:sp>
      <p:sp>
        <p:nvSpPr>
          <p:cNvPr id="7" name="Shape 5"/>
          <p:cNvSpPr/>
          <p:nvPr/>
        </p:nvSpPr>
        <p:spPr>
          <a:xfrm>
            <a:off x="457200" y="1783080"/>
            <a:ext cx="2377440" cy="685800"/>
          </a:xfrm>
          <a:prstGeom prst="rect">
            <a:avLst/>
          </a:prstGeom>
          <a:solidFill>
            <a:srgbClr val="1A2B4A"/>
          </a:solidFill>
          <a:ln w="12700">
            <a:solidFill>
              <a:srgbClr val="1A2B4A"/>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57200" y="1783080"/>
            <a:ext cx="23774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Contributor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(Member)</a:t>
            </a:r>
            <a:endParaRPr lang="en-US" sz="1100" dirty="0"/>
          </a:p>
        </p:txBody>
      </p:sp>
      <p:sp>
        <p:nvSpPr>
          <p:cNvPr id="9" name="Shape 7"/>
          <p:cNvSpPr/>
          <p:nvPr/>
        </p:nvSpPr>
        <p:spPr>
          <a:xfrm>
            <a:off x="3200400" y="1783080"/>
            <a:ext cx="2377440" cy="685800"/>
          </a:xfrm>
          <a:prstGeom prst="rect">
            <a:avLst/>
          </a:prstGeom>
          <a:solidFill>
            <a:srgbClr val="00897B"/>
          </a:solidFill>
          <a:ln w="12700">
            <a:solidFill>
              <a:srgbClr val="00897B"/>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200400" y="1783080"/>
            <a:ext cx="23774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Mobile Money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(Orange / MyZaka / Smega)</a:t>
            </a:r>
            <a:endParaRPr lang="en-US" sz="1100" dirty="0"/>
          </a:p>
        </p:txBody>
      </p:sp>
      <p:sp>
        <p:nvSpPr>
          <p:cNvPr id="11" name="Shape 9"/>
          <p:cNvSpPr/>
          <p:nvPr/>
        </p:nvSpPr>
        <p:spPr>
          <a:xfrm>
            <a:off x="6217920" y="1783080"/>
            <a:ext cx="2377440" cy="685800"/>
          </a:xfrm>
          <a:prstGeom prst="rect">
            <a:avLst/>
          </a:prstGeom>
          <a:solidFill>
            <a:srgbClr val="1A2B4A"/>
          </a:solidFill>
          <a:ln w="12700">
            <a:solidFill>
              <a:srgbClr val="1A2B4A"/>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6217920" y="1783080"/>
            <a:ext cx="23774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Fund Organiser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(Fund Manager)</a:t>
            </a:r>
            <a:endParaRPr lang="en-US" sz="1100" dirty="0"/>
          </a:p>
        </p:txBody>
      </p:sp>
      <p:sp>
        <p:nvSpPr>
          <p:cNvPr id="13" name="Shape 11"/>
          <p:cNvSpPr/>
          <p:nvPr/>
        </p:nvSpPr>
        <p:spPr>
          <a:xfrm>
            <a:off x="2880360" y="2075688"/>
            <a:ext cx="320040" cy="54864"/>
          </a:xfrm>
          <a:prstGeom prst="rect">
            <a:avLst/>
          </a:prstGeom>
          <a:solidFill>
            <a:srgbClr val="27AE60"/>
          </a:solidFill>
          <a:ln w="12700">
            <a:solidFill>
              <a:srgbClr val="27AE60"/>
            </a:solidFill>
            <a:prstDash val="solid"/>
          </a:ln>
        </p:spPr>
      </p:sp>
      <p:sp>
        <p:nvSpPr>
          <p:cNvPr id="14" name="Text 12"/>
          <p:cNvSpPr/>
          <p:nvPr/>
        </p:nvSpPr>
        <p:spPr>
          <a:xfrm>
            <a:off x="2834640" y="1920240"/>
            <a:ext cx="438912" cy="219456"/>
          </a:xfrm>
          <a:prstGeom prst="rect">
            <a:avLst/>
          </a:prstGeom>
          <a:noFill/>
          <a:ln/>
        </p:spPr>
        <p:txBody>
          <a:bodyPr wrap="square" lIns="0" tIns="0" rIns="0" bIns="0" rtlCol="0" anchor="ctr"/>
          <a:lstStyle/>
          <a:p>
            <a:pPr indent="0" marL="0">
              <a:buNone/>
            </a:pPr>
            <a:r>
              <a:rPr lang="en-US" sz="1000" b="1" dirty="0">
                <a:solidFill>
                  <a:srgbClr val="27AE60"/>
                </a:solidFill>
              </a:rPr>
              <a:t>💸 MONEY →</a:t>
            </a:r>
            <a:endParaRPr lang="en-US" sz="1000" dirty="0"/>
          </a:p>
        </p:txBody>
      </p:sp>
      <p:sp>
        <p:nvSpPr>
          <p:cNvPr id="15" name="Shape 13"/>
          <p:cNvSpPr/>
          <p:nvPr/>
        </p:nvSpPr>
        <p:spPr>
          <a:xfrm>
            <a:off x="5623560" y="2075688"/>
            <a:ext cx="594360" cy="54864"/>
          </a:xfrm>
          <a:prstGeom prst="rect">
            <a:avLst/>
          </a:prstGeom>
          <a:solidFill>
            <a:srgbClr val="27AE60"/>
          </a:solidFill>
          <a:ln w="12700">
            <a:solidFill>
              <a:srgbClr val="27AE60"/>
            </a:solidFill>
            <a:prstDash val="solid"/>
          </a:ln>
        </p:spPr>
      </p:sp>
      <p:sp>
        <p:nvSpPr>
          <p:cNvPr id="16" name="Text 14"/>
          <p:cNvSpPr/>
          <p:nvPr/>
        </p:nvSpPr>
        <p:spPr>
          <a:xfrm>
            <a:off x="5577840" y="1920240"/>
            <a:ext cx="594360" cy="219456"/>
          </a:xfrm>
          <a:prstGeom prst="rect">
            <a:avLst/>
          </a:prstGeom>
          <a:noFill/>
          <a:ln/>
        </p:spPr>
        <p:txBody>
          <a:bodyPr wrap="square" lIns="0" tIns="0" rIns="0" bIns="0" rtlCol="0" anchor="ctr"/>
          <a:lstStyle/>
          <a:p>
            <a:pPr indent="0" marL="0">
              <a:buNone/>
            </a:pPr>
            <a:r>
              <a:rPr lang="en-US" sz="1000" b="1" dirty="0">
                <a:solidFill>
                  <a:srgbClr val="27AE60"/>
                </a:solidFill>
              </a:rPr>
              <a:t>💸 MONEY →</a:t>
            </a:r>
            <a:endParaRPr lang="en-US" sz="1000" dirty="0"/>
          </a:p>
        </p:txBody>
      </p:sp>
      <p:sp>
        <p:nvSpPr>
          <p:cNvPr id="17" name="Shape 15"/>
          <p:cNvSpPr/>
          <p:nvPr/>
        </p:nvSpPr>
        <p:spPr>
          <a:xfrm>
            <a:off x="2834640" y="2926080"/>
            <a:ext cx="3474720" cy="640080"/>
          </a:xfrm>
          <a:prstGeom prst="rect">
            <a:avLst/>
          </a:prstGeom>
          <a:solidFill>
            <a:srgbClr val="E8A020">
              <a:alpha val="90000"/>
            </a:srgbClr>
          </a:solidFill>
          <a:ln w="12700">
            <a:solidFill>
              <a:srgbClr val="E8A020"/>
            </a:solidFill>
            <a:prstDash val="solid"/>
          </a:ln>
        </p:spPr>
      </p:sp>
      <p:sp>
        <p:nvSpPr>
          <p:cNvPr id="18" name="Text 16"/>
          <p:cNvSpPr/>
          <p:nvPr/>
        </p:nvSpPr>
        <p:spPr>
          <a:xfrm>
            <a:off x="2926080" y="2944368"/>
            <a:ext cx="3291840" cy="594360"/>
          </a:xfrm>
          <a:prstGeom prst="rect">
            <a:avLst/>
          </a:prstGeom>
          <a:noFill/>
          <a:ln/>
        </p:spPr>
        <p:txBody>
          <a:bodyPr wrap="square" lIns="0" tIns="0" rIns="0" bIns="0" rtlCol="0" anchor="ctr"/>
          <a:lstStyle/>
          <a:p>
            <a:pPr algn="ctr" indent="0" marL="0">
              <a:buNone/>
            </a:pPr>
            <a:r>
              <a:rPr lang="en-US" sz="1100" dirty="0">
                <a:solidFill>
                  <a:srgbClr val="1A2B4A"/>
                </a:solidFill>
                <a:latin typeface="Calibri" pitchFamily="34" charset="0"/>
                <a:ea typeface="Calibri" pitchFamily="34" charset="-122"/>
                <a:cs typeface="Calibri" pitchFamily="34" charset="-120"/>
              </a:rPr>
              <a:t>📱 TSHELO — reads SMS notification only</a:t>
            </a:r>
            <a:endParaRPr lang="en-US" sz="1100" dirty="0"/>
          </a:p>
          <a:p>
            <a:pPr algn="ctr" indent="0" marL="0">
              <a:buNone/>
            </a:pPr>
            <a:r>
              <a:rPr lang="en-US" sz="1100" dirty="0">
                <a:solidFill>
                  <a:srgbClr val="1A2B4A"/>
                </a:solidFill>
                <a:latin typeface="Calibri" pitchFamily="34" charset="0"/>
                <a:ea typeface="Calibri" pitchFamily="34" charset="-122"/>
                <a:cs typeface="Calibri" pitchFamily="34" charset="-120"/>
              </a:rPr>
              <a:t>No connection to funds. No API to mobile money providers.</a:t>
            </a:r>
            <a:endParaRPr lang="en-US" sz="1100" dirty="0"/>
          </a:p>
        </p:txBody>
      </p:sp>
      <p:sp>
        <p:nvSpPr>
          <p:cNvPr id="19" name="Shape 17"/>
          <p:cNvSpPr/>
          <p:nvPr/>
        </p:nvSpPr>
        <p:spPr>
          <a:xfrm>
            <a:off x="4572000" y="2468880"/>
            <a:ext cx="0" cy="457200"/>
          </a:xfrm>
          <a:prstGeom prst="line">
            <a:avLst/>
          </a:prstGeom>
          <a:noFill/>
          <a:ln w="19050">
            <a:solidFill>
              <a:srgbClr val="E8A020"/>
            </a:solidFill>
            <a:prstDash val="dash"/>
          </a:ln>
        </p:spPr>
      </p:sp>
      <p:sp>
        <p:nvSpPr>
          <p:cNvPr id="20" name="Text 18"/>
          <p:cNvSpPr/>
          <p:nvPr/>
        </p:nvSpPr>
        <p:spPr>
          <a:xfrm>
            <a:off x="3931920" y="2487168"/>
            <a:ext cx="1280160" cy="411480"/>
          </a:xfrm>
          <a:prstGeom prst="rect">
            <a:avLst/>
          </a:prstGeom>
          <a:noFill/>
          <a:ln/>
        </p:spPr>
        <p:txBody>
          <a:bodyPr wrap="square" lIns="0" tIns="0" rIns="0" bIns="0" rtlCol="0" anchor="ctr"/>
          <a:lstStyle/>
          <a:p>
            <a:pPr algn="ctr" indent="0" marL="0">
              <a:buNone/>
            </a:pPr>
            <a:r>
              <a:rPr lang="en-US" sz="950" i="1" dirty="0">
                <a:solidFill>
                  <a:srgbClr val="E8A020"/>
                </a:solidFill>
              </a:rPr>
              <a:t>SMS only</a:t>
            </a:r>
            <a:endParaRPr lang="en-US" sz="950" dirty="0"/>
          </a:p>
          <a:p>
            <a:pPr algn="ctr" indent="0" marL="0">
              <a:buNone/>
            </a:pPr>
            <a:r>
              <a:rPr lang="en-US" sz="950" i="1" dirty="0">
                <a:solidFill>
                  <a:srgbClr val="E8A020"/>
                </a:solidFill>
              </a:rPr>
              <a:t>(device-level)</a:t>
            </a:r>
            <a:endParaRPr lang="en-US" sz="950" dirty="0"/>
          </a:p>
        </p:txBody>
      </p:sp>
      <p:sp>
        <p:nvSpPr>
          <p:cNvPr id="21" name="Shape 19"/>
          <p:cNvSpPr/>
          <p:nvPr/>
        </p:nvSpPr>
        <p:spPr>
          <a:xfrm>
            <a:off x="365760" y="3749040"/>
            <a:ext cx="2788920" cy="10972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57200" y="382219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896112" y="3840480"/>
            <a:ext cx="2148840" cy="9144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Fund organiser holds ALL funds in their own mobile money account at all times</a:t>
            </a:r>
            <a:endParaRPr lang="en-US" sz="1050" dirty="0"/>
          </a:p>
        </p:txBody>
      </p:sp>
      <p:sp>
        <p:nvSpPr>
          <p:cNvPr id="24" name="Shape 22"/>
          <p:cNvSpPr/>
          <p:nvPr/>
        </p:nvSpPr>
        <p:spPr>
          <a:xfrm>
            <a:off x="3291840" y="3749040"/>
            <a:ext cx="2788920" cy="10972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3383280" y="382219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3822192" y="3840480"/>
            <a:ext cx="2148840" cy="9144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SMS is read on the user's device with their permission. No data sent to mobile money provider APIs.</a:t>
            </a:r>
            <a:endParaRPr lang="en-US" sz="1050" dirty="0"/>
          </a:p>
        </p:txBody>
      </p:sp>
      <p:sp>
        <p:nvSpPr>
          <p:cNvPr id="27" name="Shape 25"/>
          <p:cNvSpPr/>
          <p:nvPr/>
        </p:nvSpPr>
        <p:spPr>
          <a:xfrm>
            <a:off x="6217920" y="3749040"/>
            <a:ext cx="2788920" cy="10972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6309360" y="382219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6748272" y="3840480"/>
            <a:ext cx="2148840" cy="9144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Tshelo only creates records — the record is not a financial instrument.</a:t>
            </a:r>
            <a:endParaRPr lang="en-US" sz="1050" dirty="0"/>
          </a:p>
        </p:txBody>
      </p:sp>
      <p:sp>
        <p:nvSpPr>
          <p:cNvPr id="30" name="Text 28"/>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6B7A8D"/>
                </a:solidFill>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07  |  Proposed Test Plan – Objectives &amp; Scope</a:t>
            </a:r>
            <a:endParaRPr lang="en-US" sz="1800" dirty="0"/>
          </a:p>
        </p:txBody>
      </p:sp>
      <p:sp>
        <p:nvSpPr>
          <p:cNvPr id="5" name="Shape 3"/>
          <p:cNvSpPr/>
          <p:nvPr/>
        </p:nvSpPr>
        <p:spPr>
          <a:xfrm>
            <a:off x="365760" y="896112"/>
            <a:ext cx="8412480" cy="384048"/>
          </a:xfrm>
          <a:prstGeom prst="rect">
            <a:avLst/>
          </a:prstGeom>
          <a:solidFill>
            <a:srgbClr val="1A2B4A"/>
          </a:solidFill>
          <a:ln w="12700">
            <a:solidFill>
              <a:srgbClr val="1A2B4A"/>
            </a:solidFill>
            <a:prstDash val="solid"/>
          </a:ln>
        </p:spPr>
      </p:sp>
      <p:sp>
        <p:nvSpPr>
          <p:cNvPr id="6" name="Text 4"/>
          <p:cNvSpPr/>
          <p:nvPr/>
        </p:nvSpPr>
        <p:spPr>
          <a:xfrm>
            <a:off x="411480" y="914400"/>
            <a:ext cx="17373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7" name="Text 5"/>
          <p:cNvSpPr/>
          <p:nvPr/>
        </p:nvSpPr>
        <p:spPr>
          <a:xfrm>
            <a:off x="2194560" y="914400"/>
            <a:ext cx="10515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Duration</a:t>
            </a:r>
            <a:endParaRPr lang="en-US" sz="1100" dirty="0"/>
          </a:p>
        </p:txBody>
      </p:sp>
      <p:sp>
        <p:nvSpPr>
          <p:cNvPr id="8" name="Text 6"/>
          <p:cNvSpPr/>
          <p:nvPr/>
        </p:nvSpPr>
        <p:spPr>
          <a:xfrm>
            <a:off x="3291840" y="914400"/>
            <a:ext cx="11430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Participants</a:t>
            </a:r>
            <a:endParaRPr lang="en-US" sz="1100" dirty="0"/>
          </a:p>
        </p:txBody>
      </p:sp>
      <p:sp>
        <p:nvSpPr>
          <p:cNvPr id="9" name="Text 7"/>
          <p:cNvSpPr/>
          <p:nvPr/>
        </p:nvSpPr>
        <p:spPr>
          <a:xfrm>
            <a:off x="4480560" y="914400"/>
            <a:ext cx="11430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Goal</a:t>
            </a:r>
            <a:endParaRPr lang="en-US" sz="1100" dirty="0"/>
          </a:p>
        </p:txBody>
      </p:sp>
      <p:sp>
        <p:nvSpPr>
          <p:cNvPr id="10" name="Text 8"/>
          <p:cNvSpPr/>
          <p:nvPr/>
        </p:nvSpPr>
        <p:spPr>
          <a:xfrm>
            <a:off x="5669280" y="914400"/>
            <a:ext cx="30175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It Validates</a:t>
            </a:r>
            <a:endParaRPr lang="en-US" sz="1100" dirty="0"/>
          </a:p>
        </p:txBody>
      </p:sp>
      <p:sp>
        <p:nvSpPr>
          <p:cNvPr id="11" name="Shape 9"/>
          <p:cNvSpPr/>
          <p:nvPr/>
        </p:nvSpPr>
        <p:spPr>
          <a:xfrm>
            <a:off x="365760" y="1298448"/>
            <a:ext cx="8412480" cy="758952"/>
          </a:xfrm>
          <a:prstGeom prst="rect">
            <a:avLst/>
          </a:prstGeom>
          <a:solidFill>
            <a:srgbClr val="FFFFFF"/>
          </a:solidFill>
          <a:ln w="12700">
            <a:solidFill>
              <a:srgbClr val="E8ECF0"/>
            </a:solidFill>
            <a:prstDash val="solid"/>
          </a:ln>
        </p:spPr>
      </p:sp>
      <p:sp>
        <p:nvSpPr>
          <p:cNvPr id="12" name="Shape 10"/>
          <p:cNvSpPr/>
          <p:nvPr/>
        </p:nvSpPr>
        <p:spPr>
          <a:xfrm>
            <a:off x="365760" y="1298448"/>
            <a:ext cx="164592" cy="758952"/>
          </a:xfrm>
          <a:prstGeom prst="rect">
            <a:avLst/>
          </a:prstGeom>
          <a:solidFill>
            <a:srgbClr val="1A2B4A"/>
          </a:solidFill>
          <a:ln w="12700">
            <a:solidFill>
              <a:srgbClr val="1A2B4A"/>
            </a:solidFill>
            <a:prstDash val="solid"/>
          </a:ln>
        </p:spPr>
      </p:sp>
      <p:sp>
        <p:nvSpPr>
          <p:cNvPr id="13" name="Text 11"/>
          <p:cNvSpPr/>
          <p:nvPr/>
        </p:nvSpPr>
        <p:spPr>
          <a:xfrm>
            <a:off x="594360" y="1371600"/>
            <a:ext cx="1554480" cy="594360"/>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S1: Funeral Fund</a:t>
            </a:r>
            <a:endParaRPr lang="en-US" sz="1100" dirty="0"/>
          </a:p>
        </p:txBody>
      </p:sp>
      <p:sp>
        <p:nvSpPr>
          <p:cNvPr id="14" name="Text 12"/>
          <p:cNvSpPr/>
          <p:nvPr/>
        </p:nvSpPr>
        <p:spPr>
          <a:xfrm>
            <a:off x="2194560" y="1389888"/>
            <a:ext cx="105156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4–6 weeks</a:t>
            </a:r>
            <a:endParaRPr lang="en-US" sz="1100" dirty="0"/>
          </a:p>
        </p:txBody>
      </p:sp>
      <p:sp>
        <p:nvSpPr>
          <p:cNvPr id="15" name="Text 13"/>
          <p:cNvSpPr/>
          <p:nvPr/>
        </p:nvSpPr>
        <p:spPr>
          <a:xfrm>
            <a:off x="3291840" y="1389888"/>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Up to 15</a:t>
            </a:r>
            <a:endParaRPr lang="en-US" sz="1100" dirty="0"/>
          </a:p>
        </p:txBody>
      </p:sp>
      <p:sp>
        <p:nvSpPr>
          <p:cNvPr id="16" name="Text 14"/>
          <p:cNvSpPr/>
          <p:nvPr/>
        </p:nvSpPr>
        <p:spPr>
          <a:xfrm>
            <a:off x="4480560" y="1389888"/>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BWP 5,000–10,000</a:t>
            </a:r>
            <a:endParaRPr lang="en-US" sz="1100" dirty="0"/>
          </a:p>
        </p:txBody>
      </p:sp>
      <p:sp>
        <p:nvSpPr>
          <p:cNvPr id="17" name="Text 15"/>
          <p:cNvSpPr/>
          <p:nvPr/>
        </p:nvSpPr>
        <p:spPr>
          <a:xfrm>
            <a:off x="5669280" y="1371600"/>
            <a:ext cx="3017520" cy="6400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SMS detection, expense scanning, PDF audit report, full fund lifecycle</a:t>
            </a:r>
            <a:endParaRPr lang="en-US" sz="1050" dirty="0"/>
          </a:p>
        </p:txBody>
      </p:sp>
      <p:sp>
        <p:nvSpPr>
          <p:cNvPr id="18" name="Shape 16"/>
          <p:cNvSpPr/>
          <p:nvPr/>
        </p:nvSpPr>
        <p:spPr>
          <a:xfrm>
            <a:off x="365760" y="2103120"/>
            <a:ext cx="8412480" cy="758952"/>
          </a:xfrm>
          <a:prstGeom prst="rect">
            <a:avLst/>
          </a:prstGeom>
          <a:solidFill>
            <a:srgbClr val="F7F8FA"/>
          </a:solidFill>
          <a:ln w="12700">
            <a:solidFill>
              <a:srgbClr val="E8ECF0"/>
            </a:solidFill>
            <a:prstDash val="solid"/>
          </a:ln>
        </p:spPr>
      </p:sp>
      <p:sp>
        <p:nvSpPr>
          <p:cNvPr id="19" name="Shape 17"/>
          <p:cNvSpPr/>
          <p:nvPr/>
        </p:nvSpPr>
        <p:spPr>
          <a:xfrm>
            <a:off x="365760" y="2103120"/>
            <a:ext cx="164592" cy="758952"/>
          </a:xfrm>
          <a:prstGeom prst="rect">
            <a:avLst/>
          </a:prstGeom>
          <a:solidFill>
            <a:srgbClr val="00897B"/>
          </a:solidFill>
          <a:ln w="12700">
            <a:solidFill>
              <a:srgbClr val="00897B"/>
            </a:solidFill>
            <a:prstDash val="solid"/>
          </a:ln>
        </p:spPr>
      </p:sp>
      <p:sp>
        <p:nvSpPr>
          <p:cNvPr id="20" name="Text 18"/>
          <p:cNvSpPr/>
          <p:nvPr/>
        </p:nvSpPr>
        <p:spPr>
          <a:xfrm>
            <a:off x="594360" y="2176272"/>
            <a:ext cx="1554480" cy="594360"/>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S2: Wedding Fund</a:t>
            </a:r>
            <a:endParaRPr lang="en-US" sz="1100" dirty="0"/>
          </a:p>
        </p:txBody>
      </p:sp>
      <p:sp>
        <p:nvSpPr>
          <p:cNvPr id="21" name="Text 19"/>
          <p:cNvSpPr/>
          <p:nvPr/>
        </p:nvSpPr>
        <p:spPr>
          <a:xfrm>
            <a:off x="2194560" y="2194560"/>
            <a:ext cx="105156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60 days</a:t>
            </a:r>
            <a:endParaRPr lang="en-US" sz="1100" dirty="0"/>
          </a:p>
        </p:txBody>
      </p:sp>
      <p:sp>
        <p:nvSpPr>
          <p:cNvPr id="22" name="Text 20"/>
          <p:cNvSpPr/>
          <p:nvPr/>
        </p:nvSpPr>
        <p:spPr>
          <a:xfrm>
            <a:off x="3291840" y="2194560"/>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Up to 20</a:t>
            </a:r>
            <a:endParaRPr lang="en-US" sz="1100" dirty="0"/>
          </a:p>
        </p:txBody>
      </p:sp>
      <p:sp>
        <p:nvSpPr>
          <p:cNvPr id="23" name="Text 21"/>
          <p:cNvSpPr/>
          <p:nvPr/>
        </p:nvSpPr>
        <p:spPr>
          <a:xfrm>
            <a:off x="4480560" y="2194560"/>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BWP 8,000–10,000</a:t>
            </a:r>
            <a:endParaRPr lang="en-US" sz="1100" dirty="0"/>
          </a:p>
        </p:txBody>
      </p:sp>
      <p:sp>
        <p:nvSpPr>
          <p:cNvPr id="24" name="Text 22"/>
          <p:cNvSpPr/>
          <p:nvPr/>
        </p:nvSpPr>
        <p:spPr>
          <a:xfrm>
            <a:off x="5669280" y="2176272"/>
            <a:ext cx="3017520" cy="6400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Large group, reminders, rich auntie recognition, real-time dashboard</a:t>
            </a:r>
            <a:endParaRPr lang="en-US" sz="1050" dirty="0"/>
          </a:p>
        </p:txBody>
      </p:sp>
      <p:sp>
        <p:nvSpPr>
          <p:cNvPr id="25" name="Shape 23"/>
          <p:cNvSpPr/>
          <p:nvPr/>
        </p:nvSpPr>
        <p:spPr>
          <a:xfrm>
            <a:off x="365760" y="2907792"/>
            <a:ext cx="8412480" cy="758952"/>
          </a:xfrm>
          <a:prstGeom prst="rect">
            <a:avLst/>
          </a:prstGeom>
          <a:solidFill>
            <a:srgbClr val="FFFFFF"/>
          </a:solidFill>
          <a:ln w="12700">
            <a:solidFill>
              <a:srgbClr val="E8ECF0"/>
            </a:solidFill>
            <a:prstDash val="solid"/>
          </a:ln>
        </p:spPr>
      </p:sp>
      <p:sp>
        <p:nvSpPr>
          <p:cNvPr id="26" name="Shape 24"/>
          <p:cNvSpPr/>
          <p:nvPr/>
        </p:nvSpPr>
        <p:spPr>
          <a:xfrm>
            <a:off x="365760" y="2907792"/>
            <a:ext cx="164592" cy="758952"/>
          </a:xfrm>
          <a:prstGeom prst="rect">
            <a:avLst/>
          </a:prstGeom>
          <a:solidFill>
            <a:srgbClr val="2A3F6A"/>
          </a:solidFill>
          <a:ln w="12700">
            <a:solidFill>
              <a:srgbClr val="2A3F6A"/>
            </a:solidFill>
            <a:prstDash val="solid"/>
          </a:ln>
        </p:spPr>
      </p:sp>
      <p:sp>
        <p:nvSpPr>
          <p:cNvPr id="27" name="Text 25"/>
          <p:cNvSpPr/>
          <p:nvPr/>
        </p:nvSpPr>
        <p:spPr>
          <a:xfrm>
            <a:off x="594360" y="2980944"/>
            <a:ext cx="1554480" cy="594360"/>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S3: Graduation Fund</a:t>
            </a:r>
            <a:endParaRPr lang="en-US" sz="1100" dirty="0"/>
          </a:p>
        </p:txBody>
      </p:sp>
      <p:sp>
        <p:nvSpPr>
          <p:cNvPr id="28" name="Text 26"/>
          <p:cNvSpPr/>
          <p:nvPr/>
        </p:nvSpPr>
        <p:spPr>
          <a:xfrm>
            <a:off x="2194560" y="2999232"/>
            <a:ext cx="105156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30 days</a:t>
            </a:r>
            <a:endParaRPr lang="en-US" sz="1100" dirty="0"/>
          </a:p>
        </p:txBody>
      </p:sp>
      <p:sp>
        <p:nvSpPr>
          <p:cNvPr id="29" name="Text 27"/>
          <p:cNvSpPr/>
          <p:nvPr/>
        </p:nvSpPr>
        <p:spPr>
          <a:xfrm>
            <a:off x="3291840" y="2999232"/>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Up to 8</a:t>
            </a:r>
            <a:endParaRPr lang="en-US" sz="1100" dirty="0"/>
          </a:p>
        </p:txBody>
      </p:sp>
      <p:sp>
        <p:nvSpPr>
          <p:cNvPr id="30" name="Text 28"/>
          <p:cNvSpPr/>
          <p:nvPr/>
        </p:nvSpPr>
        <p:spPr>
          <a:xfrm>
            <a:off x="4480560" y="2999232"/>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BWP 2,000–3,000</a:t>
            </a:r>
            <a:endParaRPr lang="en-US" sz="1100" dirty="0"/>
          </a:p>
        </p:txBody>
      </p:sp>
      <p:sp>
        <p:nvSpPr>
          <p:cNvPr id="31" name="Text 29"/>
          <p:cNvSpPr/>
          <p:nvPr/>
        </p:nvSpPr>
        <p:spPr>
          <a:xfrm>
            <a:off x="5669280" y="2980944"/>
            <a:ext cx="3017520" cy="6400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Dispute resolution, audit trail integrity, cash contribution entry</a:t>
            </a:r>
            <a:endParaRPr lang="en-US" sz="1050" dirty="0"/>
          </a:p>
        </p:txBody>
      </p:sp>
      <p:sp>
        <p:nvSpPr>
          <p:cNvPr id="32" name="Shape 30"/>
          <p:cNvSpPr/>
          <p:nvPr/>
        </p:nvSpPr>
        <p:spPr>
          <a:xfrm>
            <a:off x="365760" y="3712464"/>
            <a:ext cx="8412480" cy="758952"/>
          </a:xfrm>
          <a:prstGeom prst="rect">
            <a:avLst/>
          </a:prstGeom>
          <a:solidFill>
            <a:srgbClr val="F7F8FA"/>
          </a:solidFill>
          <a:ln w="12700">
            <a:solidFill>
              <a:srgbClr val="E8ECF0"/>
            </a:solidFill>
            <a:prstDash val="solid"/>
          </a:ln>
        </p:spPr>
      </p:sp>
      <p:sp>
        <p:nvSpPr>
          <p:cNvPr id="33" name="Shape 31"/>
          <p:cNvSpPr/>
          <p:nvPr/>
        </p:nvSpPr>
        <p:spPr>
          <a:xfrm>
            <a:off x="365760" y="3712464"/>
            <a:ext cx="164592" cy="758952"/>
          </a:xfrm>
          <a:prstGeom prst="rect">
            <a:avLst/>
          </a:prstGeom>
          <a:solidFill>
            <a:srgbClr val="E8A020"/>
          </a:solidFill>
          <a:ln w="12700">
            <a:solidFill>
              <a:srgbClr val="E8A020"/>
            </a:solidFill>
            <a:prstDash val="solid"/>
          </a:ln>
        </p:spPr>
      </p:sp>
      <p:sp>
        <p:nvSpPr>
          <p:cNvPr id="34" name="Text 32"/>
          <p:cNvSpPr/>
          <p:nvPr/>
        </p:nvSpPr>
        <p:spPr>
          <a:xfrm>
            <a:off x="594360" y="3785616"/>
            <a:ext cx="1554480" cy="594360"/>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S4: Fraud Stress Test</a:t>
            </a:r>
            <a:endParaRPr lang="en-US" sz="1100" dirty="0"/>
          </a:p>
        </p:txBody>
      </p:sp>
      <p:sp>
        <p:nvSpPr>
          <p:cNvPr id="35" name="Text 33"/>
          <p:cNvSpPr/>
          <p:nvPr/>
        </p:nvSpPr>
        <p:spPr>
          <a:xfrm>
            <a:off x="2194560" y="3803904"/>
            <a:ext cx="105156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1–2 weeks</a:t>
            </a:r>
            <a:endParaRPr lang="en-US" sz="1100" dirty="0"/>
          </a:p>
        </p:txBody>
      </p:sp>
      <p:sp>
        <p:nvSpPr>
          <p:cNvPr id="36" name="Text 34"/>
          <p:cNvSpPr/>
          <p:nvPr/>
        </p:nvSpPr>
        <p:spPr>
          <a:xfrm>
            <a:off x="3291840" y="3803904"/>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Internal team</a:t>
            </a:r>
            <a:endParaRPr lang="en-US" sz="1100" dirty="0"/>
          </a:p>
        </p:txBody>
      </p:sp>
      <p:sp>
        <p:nvSpPr>
          <p:cNvPr id="37" name="Text 35"/>
          <p:cNvSpPr/>
          <p:nvPr/>
        </p:nvSpPr>
        <p:spPr>
          <a:xfrm>
            <a:off x="4480560" y="3803904"/>
            <a:ext cx="1143000" cy="5943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Internal only</a:t>
            </a:r>
            <a:endParaRPr lang="en-US" sz="1100" dirty="0"/>
          </a:p>
        </p:txBody>
      </p:sp>
      <p:sp>
        <p:nvSpPr>
          <p:cNvPr id="38" name="Text 36"/>
          <p:cNvSpPr/>
          <p:nvPr/>
        </p:nvSpPr>
        <p:spPr>
          <a:xfrm>
            <a:off x="5669280" y="3785616"/>
            <a:ext cx="3017520" cy="64008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Fund limit alerts, growth monitoring, AML escalation trigger</a:t>
            </a:r>
            <a:endParaRPr lang="en-US" sz="1050" dirty="0"/>
          </a:p>
        </p:txBody>
      </p:sp>
      <p:sp>
        <p:nvSpPr>
          <p:cNvPr id="39" name="Shape 37"/>
          <p:cNvSpPr/>
          <p:nvPr/>
        </p:nvSpPr>
        <p:spPr>
          <a:xfrm>
            <a:off x="0" y="4645152"/>
            <a:ext cx="9144000" cy="498348"/>
          </a:xfrm>
          <a:prstGeom prst="rect">
            <a:avLst/>
          </a:prstGeom>
          <a:solidFill>
            <a:srgbClr val="D6E0EE"/>
          </a:solidFill>
          <a:ln w="12700">
            <a:solidFill>
              <a:srgbClr val="D6E0EE"/>
            </a:solidFill>
            <a:prstDash val="solid"/>
          </a:ln>
        </p:spPr>
      </p:sp>
      <p:sp>
        <p:nvSpPr>
          <p:cNvPr id="40" name="Text 38"/>
          <p:cNvSpPr/>
          <p:nvPr/>
        </p:nvSpPr>
        <p:spPr>
          <a:xfrm>
            <a:off x="274320" y="4681728"/>
            <a:ext cx="8595360" cy="347472"/>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Controls: Max 200 users  |  Max BWP 10,000 per fund  |  Max 2 active funds per user  |  Botswana adults (18+) only  |  Individual users only</a:t>
            </a:r>
            <a:endParaRPr lang="en-US" sz="1050" dirty="0"/>
          </a:p>
        </p:txBody>
      </p:sp>
      <p:sp>
        <p:nvSpPr>
          <p:cNvPr id="41" name="Text 39"/>
          <p:cNvSpPr/>
          <p:nvPr/>
        </p:nvSpPr>
        <p:spPr>
          <a:xfrm>
            <a:off x="8503920" y="4846320"/>
            <a:ext cx="548640" cy="228600"/>
          </a:xfrm>
          <a:prstGeom prst="rect">
            <a:avLst/>
          </a:prstGeom>
          <a:noFill/>
          <a:ln/>
        </p:spPr>
        <p:txBody>
          <a:bodyPr wrap="square" rtlCol="0" anchor="ctr"/>
          <a:lstStyle/>
          <a:p>
            <a:pPr algn="r" indent="0" marL="0">
              <a:buNone/>
            </a:pPr>
            <a:r>
              <a:rPr lang="en-US" sz="900" dirty="0">
                <a:solidFill>
                  <a:srgbClr val="FFFFFF"/>
                </a:solidFill>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07  |  Test Plan – Key Metrics &amp; Timeline</a:t>
            </a:r>
            <a:endParaRPr lang="en-US" sz="1800" dirty="0"/>
          </a:p>
        </p:txBody>
      </p:sp>
      <p:sp>
        <p:nvSpPr>
          <p:cNvPr id="5" name="Text 3"/>
          <p:cNvSpPr/>
          <p:nvPr/>
        </p:nvSpPr>
        <p:spPr>
          <a:xfrm>
            <a:off x="365760" y="868680"/>
            <a:ext cx="4023360" cy="347472"/>
          </a:xfrm>
          <a:prstGeom prst="rect">
            <a:avLst/>
          </a:prstGeom>
          <a:noFill/>
          <a:ln/>
        </p:spPr>
        <p:txBody>
          <a:bodyPr wrap="square" lIns="0" tIns="0" rIns="0" bIns="0"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Critical KPIs (Must-Achieve)</a:t>
            </a:r>
            <a:endParaRPr lang="en-US" sz="1300" dirty="0"/>
          </a:p>
        </p:txBody>
      </p:sp>
      <p:sp>
        <p:nvSpPr>
          <p:cNvPr id="6" name="Shape 4"/>
          <p:cNvSpPr/>
          <p:nvPr/>
        </p:nvSpPr>
        <p:spPr>
          <a:xfrm>
            <a:off x="365760" y="1280160"/>
            <a:ext cx="4023360" cy="429768"/>
          </a:xfrm>
          <a:prstGeom prst="rect">
            <a:avLst/>
          </a:prstGeom>
          <a:solidFill>
            <a:srgbClr val="FFFFFF"/>
          </a:solidFill>
          <a:ln w="12700">
            <a:solidFill>
              <a:srgbClr val="E8ECF0"/>
            </a:solidFill>
            <a:prstDash val="solid"/>
          </a:ln>
        </p:spPr>
      </p:sp>
      <p:sp>
        <p:nvSpPr>
          <p:cNvPr id="7" name="Shape 5"/>
          <p:cNvSpPr/>
          <p:nvPr/>
        </p:nvSpPr>
        <p:spPr>
          <a:xfrm>
            <a:off x="365760" y="1280160"/>
            <a:ext cx="502920" cy="429768"/>
          </a:xfrm>
          <a:prstGeom prst="rect">
            <a:avLst/>
          </a:prstGeom>
          <a:solidFill>
            <a:srgbClr val="00897B"/>
          </a:solidFill>
          <a:ln w="12700">
            <a:solidFill>
              <a:srgbClr val="00897B"/>
            </a:solidFill>
            <a:prstDash val="solid"/>
          </a:ln>
        </p:spPr>
      </p:sp>
      <p:sp>
        <p:nvSpPr>
          <p:cNvPr id="8" name="Text 6"/>
          <p:cNvSpPr/>
          <p:nvPr/>
        </p:nvSpPr>
        <p:spPr>
          <a:xfrm>
            <a:off x="365760" y="1280160"/>
            <a:ext cx="50292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9" name="Text 7"/>
          <p:cNvSpPr/>
          <p:nvPr/>
        </p:nvSpPr>
        <p:spPr>
          <a:xfrm>
            <a:off x="914400" y="1325880"/>
            <a:ext cx="2103120" cy="34747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SMS detection accuracy</a:t>
            </a:r>
            <a:endParaRPr lang="en-US" sz="1100" dirty="0"/>
          </a:p>
        </p:txBody>
      </p:sp>
      <p:sp>
        <p:nvSpPr>
          <p:cNvPr id="10" name="Text 8"/>
          <p:cNvSpPr/>
          <p:nvPr/>
        </p:nvSpPr>
        <p:spPr>
          <a:xfrm>
            <a:off x="3063240" y="1325880"/>
            <a:ext cx="1298448" cy="347472"/>
          </a:xfrm>
          <a:prstGeom prst="rect">
            <a:avLst/>
          </a:prstGeom>
          <a:noFill/>
          <a:ln/>
        </p:spPr>
        <p:txBody>
          <a:bodyPr wrap="square" lIns="0" tIns="0" rIns="0" bIns="0" rtlCol="0" anchor="ctr"/>
          <a:lstStyle/>
          <a:p>
            <a:pPr algn="r" indent="0" marL="0">
              <a:buNone/>
            </a:pPr>
            <a:r>
              <a:rPr lang="en-US" sz="1100" b="1" dirty="0">
                <a:solidFill>
                  <a:srgbClr val="1A2B4A"/>
                </a:solidFill>
                <a:latin typeface="Calibri" pitchFamily="34" charset="0"/>
                <a:ea typeface="Calibri" pitchFamily="34" charset="-122"/>
                <a:cs typeface="Calibri" pitchFamily="34" charset="-120"/>
              </a:rPr>
              <a:t>≥ 90%</a:t>
            </a:r>
            <a:endParaRPr lang="en-US" sz="1100" dirty="0"/>
          </a:p>
        </p:txBody>
      </p:sp>
      <p:sp>
        <p:nvSpPr>
          <p:cNvPr id="11" name="Shape 9"/>
          <p:cNvSpPr/>
          <p:nvPr/>
        </p:nvSpPr>
        <p:spPr>
          <a:xfrm>
            <a:off x="365760" y="1755648"/>
            <a:ext cx="4023360" cy="429768"/>
          </a:xfrm>
          <a:prstGeom prst="rect">
            <a:avLst/>
          </a:prstGeom>
          <a:solidFill>
            <a:srgbClr val="F7F8FA"/>
          </a:solidFill>
          <a:ln w="12700">
            <a:solidFill>
              <a:srgbClr val="E8ECF0"/>
            </a:solidFill>
            <a:prstDash val="solid"/>
          </a:ln>
        </p:spPr>
      </p:sp>
      <p:sp>
        <p:nvSpPr>
          <p:cNvPr id="12" name="Shape 10"/>
          <p:cNvSpPr/>
          <p:nvPr/>
        </p:nvSpPr>
        <p:spPr>
          <a:xfrm>
            <a:off x="365760" y="1755648"/>
            <a:ext cx="502920" cy="429768"/>
          </a:xfrm>
          <a:prstGeom prst="rect">
            <a:avLst/>
          </a:prstGeom>
          <a:solidFill>
            <a:srgbClr val="00897B"/>
          </a:solidFill>
          <a:ln w="12700">
            <a:solidFill>
              <a:srgbClr val="00897B"/>
            </a:solidFill>
            <a:prstDash val="solid"/>
          </a:ln>
        </p:spPr>
      </p:sp>
      <p:sp>
        <p:nvSpPr>
          <p:cNvPr id="13" name="Text 11"/>
          <p:cNvSpPr/>
          <p:nvPr/>
        </p:nvSpPr>
        <p:spPr>
          <a:xfrm>
            <a:off x="365760" y="1755648"/>
            <a:ext cx="50292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14" name="Text 12"/>
          <p:cNvSpPr/>
          <p:nvPr/>
        </p:nvSpPr>
        <p:spPr>
          <a:xfrm>
            <a:off x="914400" y="1801368"/>
            <a:ext cx="2103120" cy="34747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PDF report generation</a:t>
            </a:r>
            <a:endParaRPr lang="en-US" sz="1100" dirty="0"/>
          </a:p>
        </p:txBody>
      </p:sp>
      <p:sp>
        <p:nvSpPr>
          <p:cNvPr id="15" name="Text 13"/>
          <p:cNvSpPr/>
          <p:nvPr/>
        </p:nvSpPr>
        <p:spPr>
          <a:xfrm>
            <a:off x="3063240" y="1801368"/>
            <a:ext cx="1298448" cy="347472"/>
          </a:xfrm>
          <a:prstGeom prst="rect">
            <a:avLst/>
          </a:prstGeom>
          <a:noFill/>
          <a:ln/>
        </p:spPr>
        <p:txBody>
          <a:bodyPr wrap="square" lIns="0" tIns="0" rIns="0" bIns="0" rtlCol="0" anchor="ctr"/>
          <a:lstStyle/>
          <a:p>
            <a:pPr algn="r" indent="0" marL="0">
              <a:buNone/>
            </a:pPr>
            <a:r>
              <a:rPr lang="en-US" sz="1100" b="1" dirty="0">
                <a:solidFill>
                  <a:srgbClr val="1A2B4A"/>
                </a:solidFill>
                <a:latin typeface="Calibri" pitchFamily="34" charset="0"/>
                <a:ea typeface="Calibri" pitchFamily="34" charset="-122"/>
                <a:cs typeface="Calibri" pitchFamily="34" charset="-120"/>
              </a:rPr>
              <a:t>100%</a:t>
            </a:r>
            <a:endParaRPr lang="en-US" sz="1100" dirty="0"/>
          </a:p>
        </p:txBody>
      </p:sp>
      <p:sp>
        <p:nvSpPr>
          <p:cNvPr id="16" name="Shape 14"/>
          <p:cNvSpPr/>
          <p:nvPr/>
        </p:nvSpPr>
        <p:spPr>
          <a:xfrm>
            <a:off x="365760" y="2231136"/>
            <a:ext cx="4023360" cy="429768"/>
          </a:xfrm>
          <a:prstGeom prst="rect">
            <a:avLst/>
          </a:prstGeom>
          <a:solidFill>
            <a:srgbClr val="FFFFFF"/>
          </a:solidFill>
          <a:ln w="12700">
            <a:solidFill>
              <a:srgbClr val="E8ECF0"/>
            </a:solidFill>
            <a:prstDash val="solid"/>
          </a:ln>
        </p:spPr>
      </p:sp>
      <p:sp>
        <p:nvSpPr>
          <p:cNvPr id="17" name="Shape 15"/>
          <p:cNvSpPr/>
          <p:nvPr/>
        </p:nvSpPr>
        <p:spPr>
          <a:xfrm>
            <a:off x="365760" y="2231136"/>
            <a:ext cx="502920" cy="429768"/>
          </a:xfrm>
          <a:prstGeom prst="rect">
            <a:avLst/>
          </a:prstGeom>
          <a:solidFill>
            <a:srgbClr val="00897B"/>
          </a:solidFill>
          <a:ln w="12700">
            <a:solidFill>
              <a:srgbClr val="00897B"/>
            </a:solidFill>
            <a:prstDash val="solid"/>
          </a:ln>
        </p:spPr>
      </p:sp>
      <p:sp>
        <p:nvSpPr>
          <p:cNvPr id="18" name="Text 16"/>
          <p:cNvSpPr/>
          <p:nvPr/>
        </p:nvSpPr>
        <p:spPr>
          <a:xfrm>
            <a:off x="365760" y="2231136"/>
            <a:ext cx="50292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U3</a:t>
            </a:r>
            <a:endParaRPr lang="en-US" sz="1100" dirty="0"/>
          </a:p>
        </p:txBody>
      </p:sp>
      <p:sp>
        <p:nvSpPr>
          <p:cNvPr id="19" name="Text 17"/>
          <p:cNvSpPr/>
          <p:nvPr/>
        </p:nvSpPr>
        <p:spPr>
          <a:xfrm>
            <a:off x="914400" y="2276856"/>
            <a:ext cx="2103120" cy="34747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Unique users tested</a:t>
            </a:r>
            <a:endParaRPr lang="en-US" sz="1100" dirty="0"/>
          </a:p>
        </p:txBody>
      </p:sp>
      <p:sp>
        <p:nvSpPr>
          <p:cNvPr id="20" name="Text 18"/>
          <p:cNvSpPr/>
          <p:nvPr/>
        </p:nvSpPr>
        <p:spPr>
          <a:xfrm>
            <a:off x="3063240" y="2276856"/>
            <a:ext cx="1298448" cy="347472"/>
          </a:xfrm>
          <a:prstGeom prst="rect">
            <a:avLst/>
          </a:prstGeom>
          <a:noFill/>
          <a:ln/>
        </p:spPr>
        <p:txBody>
          <a:bodyPr wrap="square" lIns="0" tIns="0" rIns="0" bIns="0" rtlCol="0" anchor="ctr"/>
          <a:lstStyle/>
          <a:p>
            <a:pPr algn="r" indent="0" marL="0">
              <a:buNone/>
            </a:pPr>
            <a:r>
              <a:rPr lang="en-US" sz="1100" b="1" dirty="0">
                <a:solidFill>
                  <a:srgbClr val="1A2B4A"/>
                </a:solidFill>
                <a:latin typeface="Calibri" pitchFamily="34" charset="0"/>
                <a:ea typeface="Calibri" pitchFamily="34" charset="-122"/>
                <a:cs typeface="Calibri" pitchFamily="34" charset="-120"/>
              </a:rPr>
              <a:t>≥ 50 users</a:t>
            </a:r>
            <a:endParaRPr lang="en-US" sz="1100" dirty="0"/>
          </a:p>
        </p:txBody>
      </p:sp>
      <p:sp>
        <p:nvSpPr>
          <p:cNvPr id="21" name="Shape 19"/>
          <p:cNvSpPr/>
          <p:nvPr/>
        </p:nvSpPr>
        <p:spPr>
          <a:xfrm>
            <a:off x="365760" y="2706624"/>
            <a:ext cx="4023360" cy="429768"/>
          </a:xfrm>
          <a:prstGeom prst="rect">
            <a:avLst/>
          </a:prstGeom>
          <a:solidFill>
            <a:srgbClr val="F7F8FA"/>
          </a:solidFill>
          <a:ln w="12700">
            <a:solidFill>
              <a:srgbClr val="E8ECF0"/>
            </a:solidFill>
            <a:prstDash val="solid"/>
          </a:ln>
        </p:spPr>
      </p:sp>
      <p:sp>
        <p:nvSpPr>
          <p:cNvPr id="22" name="Shape 20"/>
          <p:cNvSpPr/>
          <p:nvPr/>
        </p:nvSpPr>
        <p:spPr>
          <a:xfrm>
            <a:off x="365760" y="2706624"/>
            <a:ext cx="502920" cy="429768"/>
          </a:xfrm>
          <a:prstGeom prst="rect">
            <a:avLst/>
          </a:prstGeom>
          <a:solidFill>
            <a:srgbClr val="00897B"/>
          </a:solidFill>
          <a:ln w="12700">
            <a:solidFill>
              <a:srgbClr val="00897B"/>
            </a:solidFill>
            <a:prstDash val="solid"/>
          </a:ln>
        </p:spPr>
      </p:sp>
      <p:sp>
        <p:nvSpPr>
          <p:cNvPr id="23" name="Text 21"/>
          <p:cNvSpPr/>
          <p:nvPr/>
        </p:nvSpPr>
        <p:spPr>
          <a:xfrm>
            <a:off x="365760" y="2706624"/>
            <a:ext cx="50292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T1</a:t>
            </a:r>
            <a:endParaRPr lang="en-US" sz="1100" dirty="0"/>
          </a:p>
        </p:txBody>
      </p:sp>
      <p:sp>
        <p:nvSpPr>
          <p:cNvPr id="24" name="Text 22"/>
          <p:cNvSpPr/>
          <p:nvPr/>
        </p:nvSpPr>
        <p:spPr>
          <a:xfrm>
            <a:off x="914400" y="2752344"/>
            <a:ext cx="2103120" cy="34747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Contribution recording accuracy</a:t>
            </a:r>
            <a:endParaRPr lang="en-US" sz="1100" dirty="0"/>
          </a:p>
        </p:txBody>
      </p:sp>
      <p:sp>
        <p:nvSpPr>
          <p:cNvPr id="25" name="Text 23"/>
          <p:cNvSpPr/>
          <p:nvPr/>
        </p:nvSpPr>
        <p:spPr>
          <a:xfrm>
            <a:off x="3063240" y="2752344"/>
            <a:ext cx="1298448" cy="347472"/>
          </a:xfrm>
          <a:prstGeom prst="rect">
            <a:avLst/>
          </a:prstGeom>
          <a:noFill/>
          <a:ln/>
        </p:spPr>
        <p:txBody>
          <a:bodyPr wrap="square" lIns="0" tIns="0" rIns="0" bIns="0" rtlCol="0" anchor="ctr"/>
          <a:lstStyle/>
          <a:p>
            <a:pPr algn="r" indent="0" marL="0">
              <a:buNone/>
            </a:pPr>
            <a:r>
              <a:rPr lang="en-US" sz="1100" b="1" dirty="0">
                <a:solidFill>
                  <a:srgbClr val="1A2B4A"/>
                </a:solidFill>
                <a:latin typeface="Calibri" pitchFamily="34" charset="0"/>
                <a:ea typeface="Calibri" pitchFamily="34" charset="-122"/>
                <a:cs typeface="Calibri" pitchFamily="34" charset="-120"/>
              </a:rPr>
              <a:t>100%</a:t>
            </a:r>
            <a:endParaRPr lang="en-US" sz="1100" dirty="0"/>
          </a:p>
        </p:txBody>
      </p:sp>
      <p:sp>
        <p:nvSpPr>
          <p:cNvPr id="26" name="Shape 24"/>
          <p:cNvSpPr/>
          <p:nvPr/>
        </p:nvSpPr>
        <p:spPr>
          <a:xfrm>
            <a:off x="365760" y="3182112"/>
            <a:ext cx="4023360" cy="429768"/>
          </a:xfrm>
          <a:prstGeom prst="rect">
            <a:avLst/>
          </a:prstGeom>
          <a:solidFill>
            <a:srgbClr val="FFFFFF"/>
          </a:solidFill>
          <a:ln w="12700">
            <a:solidFill>
              <a:srgbClr val="E8ECF0"/>
            </a:solidFill>
            <a:prstDash val="solid"/>
          </a:ln>
        </p:spPr>
      </p:sp>
      <p:sp>
        <p:nvSpPr>
          <p:cNvPr id="27" name="Shape 25"/>
          <p:cNvSpPr/>
          <p:nvPr/>
        </p:nvSpPr>
        <p:spPr>
          <a:xfrm>
            <a:off x="365760" y="3182112"/>
            <a:ext cx="502920" cy="429768"/>
          </a:xfrm>
          <a:prstGeom prst="rect">
            <a:avLst/>
          </a:prstGeom>
          <a:solidFill>
            <a:srgbClr val="E74C3C"/>
          </a:solidFill>
          <a:ln w="12700">
            <a:solidFill>
              <a:srgbClr val="E74C3C"/>
            </a:solidFill>
            <a:prstDash val="solid"/>
          </a:ln>
        </p:spPr>
      </p:sp>
      <p:sp>
        <p:nvSpPr>
          <p:cNvPr id="28" name="Text 26"/>
          <p:cNvSpPr/>
          <p:nvPr/>
        </p:nvSpPr>
        <p:spPr>
          <a:xfrm>
            <a:off x="365760" y="3182112"/>
            <a:ext cx="502920" cy="4297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F2</a:t>
            </a:r>
            <a:endParaRPr lang="en-US" sz="1100" dirty="0"/>
          </a:p>
        </p:txBody>
      </p:sp>
      <p:sp>
        <p:nvSpPr>
          <p:cNvPr id="29" name="Text 27"/>
          <p:cNvSpPr/>
          <p:nvPr/>
        </p:nvSpPr>
        <p:spPr>
          <a:xfrm>
            <a:off x="914400" y="3227832"/>
            <a:ext cx="2103120" cy="347472"/>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Zero funds held by Tshelo</a:t>
            </a:r>
            <a:endParaRPr lang="en-US" sz="1100" dirty="0"/>
          </a:p>
        </p:txBody>
      </p:sp>
      <p:sp>
        <p:nvSpPr>
          <p:cNvPr id="30" name="Text 28"/>
          <p:cNvSpPr/>
          <p:nvPr/>
        </p:nvSpPr>
        <p:spPr>
          <a:xfrm>
            <a:off x="3063240" y="3227832"/>
            <a:ext cx="1298448" cy="347472"/>
          </a:xfrm>
          <a:prstGeom prst="rect">
            <a:avLst/>
          </a:prstGeom>
          <a:noFill/>
          <a:ln/>
        </p:spPr>
        <p:txBody>
          <a:bodyPr wrap="square" lIns="0" tIns="0" rIns="0" bIns="0" rtlCol="0" anchor="ctr"/>
          <a:lstStyle/>
          <a:p>
            <a:pPr algn="r" indent="0" marL="0">
              <a:buNone/>
            </a:pPr>
            <a:r>
              <a:rPr lang="en-US" sz="1100" b="1" dirty="0">
                <a:solidFill>
                  <a:srgbClr val="1A2B4A"/>
                </a:solidFill>
                <a:latin typeface="Calibri" pitchFamily="34" charset="0"/>
                <a:ea typeface="Calibri" pitchFamily="34" charset="-122"/>
                <a:cs typeface="Calibri" pitchFamily="34" charset="-120"/>
              </a:rPr>
              <a:t>Zero at all times</a:t>
            </a:r>
            <a:endParaRPr lang="en-US" sz="1100" dirty="0"/>
          </a:p>
        </p:txBody>
      </p:sp>
      <p:sp>
        <p:nvSpPr>
          <p:cNvPr id="31" name="Text 29"/>
          <p:cNvSpPr/>
          <p:nvPr/>
        </p:nvSpPr>
        <p:spPr>
          <a:xfrm>
            <a:off x="4754880" y="868680"/>
            <a:ext cx="4114800" cy="347472"/>
          </a:xfrm>
          <a:prstGeom prst="rect">
            <a:avLst/>
          </a:prstGeom>
          <a:noFill/>
          <a:ln/>
        </p:spPr>
        <p:txBody>
          <a:bodyPr wrap="square" lIns="0" tIns="0" rIns="0" bIns="0"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6-Month Test Timeline</a:t>
            </a:r>
            <a:endParaRPr lang="en-US" sz="1300" dirty="0"/>
          </a:p>
        </p:txBody>
      </p:sp>
      <p:sp>
        <p:nvSpPr>
          <p:cNvPr id="32" name="Shape 30"/>
          <p:cNvSpPr/>
          <p:nvPr/>
        </p:nvSpPr>
        <p:spPr>
          <a:xfrm>
            <a:off x="4754880" y="1280160"/>
            <a:ext cx="4114800" cy="429768"/>
          </a:xfrm>
          <a:prstGeom prst="rect">
            <a:avLst/>
          </a:prstGeom>
          <a:solidFill>
            <a:srgbClr val="FFFFFF"/>
          </a:solidFill>
          <a:ln w="12700">
            <a:solidFill>
              <a:srgbClr val="E8ECF0"/>
            </a:solidFill>
            <a:prstDash val="solid"/>
          </a:ln>
        </p:spPr>
      </p:sp>
      <p:sp>
        <p:nvSpPr>
          <p:cNvPr id="33" name="Shape 31"/>
          <p:cNvSpPr/>
          <p:nvPr/>
        </p:nvSpPr>
        <p:spPr>
          <a:xfrm>
            <a:off x="4754880" y="1344168"/>
            <a:ext cx="292608" cy="292608"/>
          </a:xfrm>
          <a:prstGeom prst="ellipse">
            <a:avLst/>
          </a:prstGeom>
          <a:solidFill>
            <a:srgbClr val="E8A020"/>
          </a:solidFill>
          <a:ln w="12700">
            <a:solidFill>
              <a:srgbClr val="E8A020"/>
            </a:solidFill>
            <a:prstDash val="solid"/>
          </a:ln>
        </p:spPr>
      </p:sp>
      <p:sp>
        <p:nvSpPr>
          <p:cNvPr id="34" name="Text 32"/>
          <p:cNvSpPr/>
          <p:nvPr/>
        </p:nvSpPr>
        <p:spPr>
          <a:xfrm>
            <a:off x="5093208" y="1325880"/>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Apr '26</a:t>
            </a:r>
            <a:endParaRPr lang="en-US" sz="1050" dirty="0"/>
          </a:p>
        </p:txBody>
      </p:sp>
      <p:sp>
        <p:nvSpPr>
          <p:cNvPr id="35" name="Text 33"/>
          <p:cNvSpPr/>
          <p:nvPr/>
        </p:nvSpPr>
        <p:spPr>
          <a:xfrm>
            <a:off x="5833872" y="1325880"/>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App finalised. User onboarding. First 20 users registered.</a:t>
            </a:r>
            <a:endParaRPr lang="en-US" sz="1050" dirty="0"/>
          </a:p>
        </p:txBody>
      </p:sp>
      <p:sp>
        <p:nvSpPr>
          <p:cNvPr id="36" name="Shape 34"/>
          <p:cNvSpPr/>
          <p:nvPr/>
        </p:nvSpPr>
        <p:spPr>
          <a:xfrm>
            <a:off x="4754880" y="1755648"/>
            <a:ext cx="4114800" cy="429768"/>
          </a:xfrm>
          <a:prstGeom prst="rect">
            <a:avLst/>
          </a:prstGeom>
          <a:solidFill>
            <a:srgbClr val="F7F8FA"/>
          </a:solidFill>
          <a:ln w="12700">
            <a:solidFill>
              <a:srgbClr val="E8ECF0"/>
            </a:solidFill>
            <a:prstDash val="solid"/>
          </a:ln>
        </p:spPr>
      </p:sp>
      <p:sp>
        <p:nvSpPr>
          <p:cNvPr id="37" name="Shape 35"/>
          <p:cNvSpPr/>
          <p:nvPr/>
        </p:nvSpPr>
        <p:spPr>
          <a:xfrm>
            <a:off x="4754880" y="1819656"/>
            <a:ext cx="292608" cy="292608"/>
          </a:xfrm>
          <a:prstGeom prst="ellipse">
            <a:avLst/>
          </a:prstGeom>
          <a:solidFill>
            <a:srgbClr val="E8A020"/>
          </a:solidFill>
          <a:ln w="12700">
            <a:solidFill>
              <a:srgbClr val="E8A020"/>
            </a:solidFill>
            <a:prstDash val="solid"/>
          </a:ln>
        </p:spPr>
      </p:sp>
      <p:sp>
        <p:nvSpPr>
          <p:cNvPr id="38" name="Text 36"/>
          <p:cNvSpPr/>
          <p:nvPr/>
        </p:nvSpPr>
        <p:spPr>
          <a:xfrm>
            <a:off x="5093208" y="1801368"/>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May '26</a:t>
            </a:r>
            <a:endParaRPr lang="en-US" sz="1050" dirty="0"/>
          </a:p>
        </p:txBody>
      </p:sp>
      <p:sp>
        <p:nvSpPr>
          <p:cNvPr id="39" name="Text 37"/>
          <p:cNvSpPr/>
          <p:nvPr/>
        </p:nvSpPr>
        <p:spPr>
          <a:xfrm>
            <a:off x="5833872" y="1801368"/>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Funeral Fund (S1) + Wedding Fund (S2) launched.</a:t>
            </a:r>
            <a:endParaRPr lang="en-US" sz="1050" dirty="0"/>
          </a:p>
        </p:txBody>
      </p:sp>
      <p:sp>
        <p:nvSpPr>
          <p:cNvPr id="40" name="Shape 38"/>
          <p:cNvSpPr/>
          <p:nvPr/>
        </p:nvSpPr>
        <p:spPr>
          <a:xfrm>
            <a:off x="4754880" y="2231136"/>
            <a:ext cx="4114800" cy="429768"/>
          </a:xfrm>
          <a:prstGeom prst="rect">
            <a:avLst/>
          </a:prstGeom>
          <a:solidFill>
            <a:srgbClr val="FFFFFF"/>
          </a:solidFill>
          <a:ln w="12700">
            <a:solidFill>
              <a:srgbClr val="E8ECF0"/>
            </a:solidFill>
            <a:prstDash val="solid"/>
          </a:ln>
        </p:spPr>
      </p:sp>
      <p:sp>
        <p:nvSpPr>
          <p:cNvPr id="41" name="Shape 39"/>
          <p:cNvSpPr/>
          <p:nvPr/>
        </p:nvSpPr>
        <p:spPr>
          <a:xfrm>
            <a:off x="4754880" y="2295144"/>
            <a:ext cx="292608" cy="292608"/>
          </a:xfrm>
          <a:prstGeom prst="ellipse">
            <a:avLst/>
          </a:prstGeom>
          <a:solidFill>
            <a:srgbClr val="E8A020"/>
          </a:solidFill>
          <a:ln w="12700">
            <a:solidFill>
              <a:srgbClr val="E8A020"/>
            </a:solidFill>
            <a:prstDash val="solid"/>
          </a:ln>
        </p:spPr>
      </p:sp>
      <p:sp>
        <p:nvSpPr>
          <p:cNvPr id="42" name="Text 40"/>
          <p:cNvSpPr/>
          <p:nvPr/>
        </p:nvSpPr>
        <p:spPr>
          <a:xfrm>
            <a:off x="5093208" y="2276856"/>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Jun '26</a:t>
            </a:r>
            <a:endParaRPr lang="en-US" sz="1050" dirty="0"/>
          </a:p>
        </p:txBody>
      </p:sp>
      <p:sp>
        <p:nvSpPr>
          <p:cNvPr id="43" name="Text 41"/>
          <p:cNvSpPr/>
          <p:nvPr/>
        </p:nvSpPr>
        <p:spPr>
          <a:xfrm>
            <a:off x="5833872" y="2276856"/>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Graduation Fund (S3) launched. Mid-point review with BoB.</a:t>
            </a:r>
            <a:endParaRPr lang="en-US" sz="1050" dirty="0"/>
          </a:p>
        </p:txBody>
      </p:sp>
      <p:sp>
        <p:nvSpPr>
          <p:cNvPr id="44" name="Shape 42"/>
          <p:cNvSpPr/>
          <p:nvPr/>
        </p:nvSpPr>
        <p:spPr>
          <a:xfrm>
            <a:off x="4754880" y="2706624"/>
            <a:ext cx="4114800" cy="429768"/>
          </a:xfrm>
          <a:prstGeom prst="rect">
            <a:avLst/>
          </a:prstGeom>
          <a:solidFill>
            <a:srgbClr val="F7F8FA"/>
          </a:solidFill>
          <a:ln w="12700">
            <a:solidFill>
              <a:srgbClr val="E8ECF0"/>
            </a:solidFill>
            <a:prstDash val="solid"/>
          </a:ln>
        </p:spPr>
      </p:sp>
      <p:sp>
        <p:nvSpPr>
          <p:cNvPr id="45" name="Shape 43"/>
          <p:cNvSpPr/>
          <p:nvPr/>
        </p:nvSpPr>
        <p:spPr>
          <a:xfrm>
            <a:off x="4754880" y="2770632"/>
            <a:ext cx="292608" cy="292608"/>
          </a:xfrm>
          <a:prstGeom prst="ellipse">
            <a:avLst/>
          </a:prstGeom>
          <a:solidFill>
            <a:srgbClr val="E8A020"/>
          </a:solidFill>
          <a:ln w="12700">
            <a:solidFill>
              <a:srgbClr val="E8A020"/>
            </a:solidFill>
            <a:prstDash val="solid"/>
          </a:ln>
        </p:spPr>
      </p:sp>
      <p:sp>
        <p:nvSpPr>
          <p:cNvPr id="46" name="Text 44"/>
          <p:cNvSpPr/>
          <p:nvPr/>
        </p:nvSpPr>
        <p:spPr>
          <a:xfrm>
            <a:off x="5093208" y="2752344"/>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Jul '26</a:t>
            </a:r>
            <a:endParaRPr lang="en-US" sz="1050" dirty="0"/>
          </a:p>
        </p:txBody>
      </p:sp>
      <p:sp>
        <p:nvSpPr>
          <p:cNvPr id="47" name="Text 45"/>
          <p:cNvSpPr/>
          <p:nvPr/>
        </p:nvSpPr>
        <p:spPr>
          <a:xfrm>
            <a:off x="5833872" y="2752344"/>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Fraud stress test (S4). Second monthly report to BoB.</a:t>
            </a:r>
            <a:endParaRPr lang="en-US" sz="1050" dirty="0"/>
          </a:p>
        </p:txBody>
      </p:sp>
      <p:sp>
        <p:nvSpPr>
          <p:cNvPr id="48" name="Shape 46"/>
          <p:cNvSpPr/>
          <p:nvPr/>
        </p:nvSpPr>
        <p:spPr>
          <a:xfrm>
            <a:off x="4754880" y="3182112"/>
            <a:ext cx="4114800" cy="429768"/>
          </a:xfrm>
          <a:prstGeom prst="rect">
            <a:avLst/>
          </a:prstGeom>
          <a:solidFill>
            <a:srgbClr val="FFFFFF"/>
          </a:solidFill>
          <a:ln w="12700">
            <a:solidFill>
              <a:srgbClr val="E8ECF0"/>
            </a:solidFill>
            <a:prstDash val="solid"/>
          </a:ln>
        </p:spPr>
      </p:sp>
      <p:sp>
        <p:nvSpPr>
          <p:cNvPr id="49" name="Shape 47"/>
          <p:cNvSpPr/>
          <p:nvPr/>
        </p:nvSpPr>
        <p:spPr>
          <a:xfrm>
            <a:off x="4754880" y="3246120"/>
            <a:ext cx="292608" cy="292608"/>
          </a:xfrm>
          <a:prstGeom prst="ellipse">
            <a:avLst/>
          </a:prstGeom>
          <a:solidFill>
            <a:srgbClr val="E8A020"/>
          </a:solidFill>
          <a:ln w="12700">
            <a:solidFill>
              <a:srgbClr val="E8A020"/>
            </a:solidFill>
            <a:prstDash val="solid"/>
          </a:ln>
        </p:spPr>
      </p:sp>
      <p:sp>
        <p:nvSpPr>
          <p:cNvPr id="50" name="Text 48"/>
          <p:cNvSpPr/>
          <p:nvPr/>
        </p:nvSpPr>
        <p:spPr>
          <a:xfrm>
            <a:off x="5093208" y="3227832"/>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Aug '26</a:t>
            </a:r>
            <a:endParaRPr lang="en-US" sz="1050" dirty="0"/>
          </a:p>
        </p:txBody>
      </p:sp>
      <p:sp>
        <p:nvSpPr>
          <p:cNvPr id="51" name="Text 49"/>
          <p:cNvSpPr/>
          <p:nvPr/>
        </p:nvSpPr>
        <p:spPr>
          <a:xfrm>
            <a:off x="5833872" y="3227832"/>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All funds closed. Surveys done. Data compiled.</a:t>
            </a:r>
            <a:endParaRPr lang="en-US" sz="1050" dirty="0"/>
          </a:p>
        </p:txBody>
      </p:sp>
      <p:sp>
        <p:nvSpPr>
          <p:cNvPr id="52" name="Shape 50"/>
          <p:cNvSpPr/>
          <p:nvPr/>
        </p:nvSpPr>
        <p:spPr>
          <a:xfrm>
            <a:off x="4754880" y="3657600"/>
            <a:ext cx="4114800" cy="429768"/>
          </a:xfrm>
          <a:prstGeom prst="rect">
            <a:avLst/>
          </a:prstGeom>
          <a:solidFill>
            <a:srgbClr val="F7F8FA"/>
          </a:solidFill>
          <a:ln w="12700">
            <a:solidFill>
              <a:srgbClr val="E8ECF0"/>
            </a:solidFill>
            <a:prstDash val="solid"/>
          </a:ln>
        </p:spPr>
      </p:sp>
      <p:sp>
        <p:nvSpPr>
          <p:cNvPr id="53" name="Shape 51"/>
          <p:cNvSpPr/>
          <p:nvPr/>
        </p:nvSpPr>
        <p:spPr>
          <a:xfrm>
            <a:off x="4754880" y="3721608"/>
            <a:ext cx="292608" cy="292608"/>
          </a:xfrm>
          <a:prstGeom prst="ellipse">
            <a:avLst/>
          </a:prstGeom>
          <a:solidFill>
            <a:srgbClr val="E8A020"/>
          </a:solidFill>
          <a:ln w="12700">
            <a:solidFill>
              <a:srgbClr val="E8A020"/>
            </a:solidFill>
            <a:prstDash val="solid"/>
          </a:ln>
        </p:spPr>
      </p:sp>
      <p:sp>
        <p:nvSpPr>
          <p:cNvPr id="54" name="Text 52"/>
          <p:cNvSpPr/>
          <p:nvPr/>
        </p:nvSpPr>
        <p:spPr>
          <a:xfrm>
            <a:off x="5093208" y="3703320"/>
            <a:ext cx="713232" cy="347472"/>
          </a:xfrm>
          <a:prstGeom prst="rect">
            <a:avLst/>
          </a:prstGeom>
          <a:noFill/>
          <a:ln/>
        </p:spPr>
        <p:txBody>
          <a:bodyPr wrap="square" lIns="0" tIns="0" rIns="0" bIns="0" rtlCol="0" anchor="ctr"/>
          <a:lstStyle/>
          <a:p>
            <a:pPr indent="0" marL="0">
              <a:buNone/>
            </a:pPr>
            <a:r>
              <a:rPr lang="en-US" sz="1050" b="1" dirty="0">
                <a:solidFill>
                  <a:srgbClr val="1A2B4A"/>
                </a:solidFill>
                <a:latin typeface="Calibri" pitchFamily="34" charset="0"/>
                <a:ea typeface="Calibri" pitchFamily="34" charset="-122"/>
                <a:cs typeface="Calibri" pitchFamily="34" charset="-120"/>
              </a:rPr>
              <a:t>Sep '26</a:t>
            </a:r>
            <a:endParaRPr lang="en-US" sz="1050" dirty="0"/>
          </a:p>
        </p:txBody>
      </p:sp>
      <p:sp>
        <p:nvSpPr>
          <p:cNvPr id="55" name="Text 53"/>
          <p:cNvSpPr/>
          <p:nvPr/>
        </p:nvSpPr>
        <p:spPr>
          <a:xfrm>
            <a:off x="5833872" y="3703320"/>
            <a:ext cx="2999232" cy="347472"/>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Final report submitted to Bank of Botswana.</a:t>
            </a:r>
            <a:endParaRPr lang="en-US" sz="1050" dirty="0"/>
          </a:p>
        </p:txBody>
      </p:sp>
      <p:sp>
        <p:nvSpPr>
          <p:cNvPr id="56" name="Shape 54"/>
          <p:cNvSpPr/>
          <p:nvPr/>
        </p:nvSpPr>
        <p:spPr>
          <a:xfrm>
            <a:off x="0" y="4645152"/>
            <a:ext cx="9144000" cy="498348"/>
          </a:xfrm>
          <a:prstGeom prst="rect">
            <a:avLst/>
          </a:prstGeom>
          <a:solidFill>
            <a:srgbClr val="D6E0EE"/>
          </a:solidFill>
          <a:ln w="12700">
            <a:solidFill>
              <a:srgbClr val="D6E0EE"/>
            </a:solidFill>
            <a:prstDash val="solid"/>
          </a:ln>
        </p:spPr>
      </p:sp>
      <p:sp>
        <p:nvSpPr>
          <p:cNvPr id="57" name="Text 55"/>
          <p:cNvSpPr/>
          <p:nvPr/>
        </p:nvSpPr>
        <p:spPr>
          <a:xfrm>
            <a:off x="274320" y="4681728"/>
            <a:ext cx="8595360" cy="347472"/>
          </a:xfrm>
          <a:prstGeom prst="rect">
            <a:avLst/>
          </a:prstGeom>
          <a:noFill/>
          <a:ln/>
        </p:spPr>
        <p:txBody>
          <a:bodyPr wrap="square" lIns="0" tIns="0" rIns="0" bIns="0" rtlCol="0" anchor="ctr"/>
          <a:lstStyle/>
          <a:p>
            <a:pPr algn="ctr" indent="0" marL="0">
              <a:buNone/>
            </a:pPr>
            <a:r>
              <a:rPr lang="en-US" sz="1000" dirty="0">
                <a:solidFill>
                  <a:srgbClr val="1A2B4A"/>
                </a:solidFill>
                <a:latin typeface="Calibri" pitchFamily="34" charset="0"/>
                <a:ea typeface="Calibri" pitchFamily="34" charset="-122"/>
                <a:cs typeface="Calibri" pitchFamily="34" charset="-120"/>
              </a:rPr>
              <a:t>Resourcing: Nono Bokete (CEO) – AML compliance, sandbox lead, monthly reporting  |  Development resources allocated for app finalisation  |  Community recruiter engaged for user cohorts</a:t>
            </a:r>
            <a:endParaRPr lang="en-US" sz="1000" dirty="0"/>
          </a:p>
        </p:txBody>
      </p:sp>
      <p:sp>
        <p:nvSpPr>
          <p:cNvPr id="58" name="Text 56"/>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FFFFFF"/>
                </a:solidFill>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08  |  Regulatory Considerations &amp; Risk Management</a:t>
            </a:r>
            <a:endParaRPr lang="en-US" sz="1800" dirty="0"/>
          </a:p>
        </p:txBody>
      </p:sp>
      <p:sp>
        <p:nvSpPr>
          <p:cNvPr id="5" name="Text 3"/>
          <p:cNvSpPr/>
          <p:nvPr/>
        </p:nvSpPr>
        <p:spPr>
          <a:xfrm>
            <a:off x="365760" y="841248"/>
            <a:ext cx="3931920" cy="347472"/>
          </a:xfrm>
          <a:prstGeom prst="rect">
            <a:avLst/>
          </a:prstGeom>
          <a:noFill/>
          <a:ln/>
        </p:spPr>
        <p:txBody>
          <a:bodyPr wrap="square" lIns="0" tIns="0" rIns="0" bIns="0"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Regulatory Engagement</a:t>
            </a:r>
            <a:endParaRPr lang="en-US" sz="1300" dirty="0"/>
          </a:p>
        </p:txBody>
      </p:sp>
      <p:sp>
        <p:nvSpPr>
          <p:cNvPr id="6" name="Shape 4"/>
          <p:cNvSpPr/>
          <p:nvPr/>
        </p:nvSpPr>
        <p:spPr>
          <a:xfrm>
            <a:off x="365760" y="1234440"/>
            <a:ext cx="3931920" cy="9601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164592" cy="960120"/>
          </a:xfrm>
          <a:prstGeom prst="rect">
            <a:avLst/>
          </a:prstGeom>
          <a:solidFill>
            <a:srgbClr val="00897B"/>
          </a:solidFill>
          <a:ln w="12700">
            <a:solidFill>
              <a:srgbClr val="00897B"/>
            </a:solidFill>
            <a:prstDash val="solid"/>
          </a:ln>
        </p:spPr>
      </p:sp>
      <p:sp>
        <p:nvSpPr>
          <p:cNvPr id="8" name="Text 6"/>
          <p:cNvSpPr/>
          <p:nvPr/>
        </p:nvSpPr>
        <p:spPr>
          <a:xfrm>
            <a:off x="594360" y="1280160"/>
            <a:ext cx="3566160" cy="320040"/>
          </a:xfrm>
          <a:prstGeom prst="rect">
            <a:avLst/>
          </a:prstGeom>
          <a:noFill/>
          <a:ln/>
        </p:spPr>
        <p:txBody>
          <a:bodyPr wrap="square" lIns="0" tIns="0" rIns="0" bIns="0" rtlCol="0" anchor="ctr"/>
          <a:lstStyle/>
          <a:p>
            <a:pPr indent="0" marL="0">
              <a:buNone/>
            </a:pPr>
            <a:r>
              <a:rPr lang="en-US" sz="1150" b="1" dirty="0">
                <a:solidFill>
                  <a:srgbClr val="00897B"/>
                </a:solidFill>
                <a:latin typeface="Calibri" pitchFamily="34" charset="0"/>
                <a:ea typeface="Calibri" pitchFamily="34" charset="-122"/>
                <a:cs typeface="Calibri" pitchFamily="34" charset="-120"/>
              </a:rPr>
              <a:t>Bank of Botswana</a:t>
            </a:r>
            <a:endParaRPr lang="en-US" sz="1150" dirty="0"/>
          </a:p>
        </p:txBody>
      </p:sp>
      <p:sp>
        <p:nvSpPr>
          <p:cNvPr id="9" name="Text 7"/>
          <p:cNvSpPr/>
          <p:nvPr/>
        </p:nvSpPr>
        <p:spPr>
          <a:xfrm>
            <a:off x="594360" y="1618488"/>
            <a:ext cx="3566160" cy="5486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Active engagement. Sandbox application submitted 31 Mar 2026. Tshelo does not require licensing under EPS regulations (no fund handling).</a:t>
            </a:r>
            <a:endParaRPr lang="en-US" sz="1050" dirty="0"/>
          </a:p>
        </p:txBody>
      </p:sp>
      <p:sp>
        <p:nvSpPr>
          <p:cNvPr id="10" name="Shape 8"/>
          <p:cNvSpPr/>
          <p:nvPr/>
        </p:nvSpPr>
        <p:spPr>
          <a:xfrm>
            <a:off x="365760" y="2286000"/>
            <a:ext cx="3931920" cy="9601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2286000"/>
            <a:ext cx="164592" cy="960120"/>
          </a:xfrm>
          <a:prstGeom prst="rect">
            <a:avLst/>
          </a:prstGeom>
          <a:solidFill>
            <a:srgbClr val="1A2B4A"/>
          </a:solidFill>
          <a:ln w="12700">
            <a:solidFill>
              <a:srgbClr val="1A2B4A"/>
            </a:solidFill>
            <a:prstDash val="solid"/>
          </a:ln>
        </p:spPr>
      </p:sp>
      <p:sp>
        <p:nvSpPr>
          <p:cNvPr id="12" name="Text 10"/>
          <p:cNvSpPr/>
          <p:nvPr/>
        </p:nvSpPr>
        <p:spPr>
          <a:xfrm>
            <a:off x="594360" y="2331720"/>
            <a:ext cx="3566160" cy="320040"/>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Financial Intelligence Agency</a:t>
            </a:r>
            <a:endParaRPr lang="en-US" sz="1150" dirty="0"/>
          </a:p>
        </p:txBody>
      </p:sp>
      <p:sp>
        <p:nvSpPr>
          <p:cNvPr id="13" name="Text 11"/>
          <p:cNvSpPr/>
          <p:nvPr/>
        </p:nvSpPr>
        <p:spPr>
          <a:xfrm>
            <a:off x="594360" y="2670048"/>
            <a:ext cx="3566160" cy="5486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AML/CFT Framework submitted. Section 40 FIA 2022 general reporting addressed. Internal AML policy in place. CEO designated compliance contact.</a:t>
            </a:r>
            <a:endParaRPr lang="en-US" sz="1050" dirty="0"/>
          </a:p>
        </p:txBody>
      </p:sp>
      <p:sp>
        <p:nvSpPr>
          <p:cNvPr id="14" name="Shape 12"/>
          <p:cNvSpPr/>
          <p:nvPr/>
        </p:nvSpPr>
        <p:spPr>
          <a:xfrm>
            <a:off x="365760" y="3337560"/>
            <a:ext cx="3931920" cy="9601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65760" y="3337560"/>
            <a:ext cx="164592" cy="960120"/>
          </a:xfrm>
          <a:prstGeom prst="rect">
            <a:avLst/>
          </a:prstGeom>
          <a:solidFill>
            <a:srgbClr val="2A3F6A"/>
          </a:solidFill>
          <a:ln w="12700">
            <a:solidFill>
              <a:srgbClr val="2A3F6A"/>
            </a:solidFill>
            <a:prstDash val="solid"/>
          </a:ln>
        </p:spPr>
      </p:sp>
      <p:sp>
        <p:nvSpPr>
          <p:cNvPr id="16" name="Text 14"/>
          <p:cNvSpPr/>
          <p:nvPr/>
        </p:nvSpPr>
        <p:spPr>
          <a:xfrm>
            <a:off x="594360" y="3383280"/>
            <a:ext cx="3566160" cy="320040"/>
          </a:xfrm>
          <a:prstGeom prst="rect">
            <a:avLst/>
          </a:prstGeom>
          <a:noFill/>
          <a:ln/>
        </p:spPr>
        <p:txBody>
          <a:bodyPr wrap="square" lIns="0" tIns="0" rIns="0" bIns="0" rtlCol="0" anchor="ctr"/>
          <a:lstStyle/>
          <a:p>
            <a:pPr indent="0" marL="0">
              <a:buNone/>
            </a:pPr>
            <a:r>
              <a:rPr lang="en-US" sz="1150" b="1" dirty="0">
                <a:solidFill>
                  <a:srgbClr val="2A3F6A"/>
                </a:solidFill>
                <a:latin typeface="Calibri" pitchFamily="34" charset="0"/>
                <a:ea typeface="Calibri" pitchFamily="34" charset="-122"/>
                <a:cs typeface="Calibri" pitchFamily="34" charset="-120"/>
              </a:rPr>
              <a:t>NBFIRA</a:t>
            </a:r>
            <a:endParaRPr lang="en-US" sz="1150" dirty="0"/>
          </a:p>
        </p:txBody>
      </p:sp>
      <p:sp>
        <p:nvSpPr>
          <p:cNvPr id="17" name="Text 15"/>
          <p:cNvSpPr/>
          <p:nvPr/>
        </p:nvSpPr>
        <p:spPr>
          <a:xfrm>
            <a:off x="594360" y="3721608"/>
            <a:ext cx="3566160" cy="54864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Consultation planned. Tshelo's complementary (non-financial) nature expected to confirm no NBFIRA registration required.</a:t>
            </a:r>
            <a:endParaRPr lang="en-US" sz="1050" dirty="0"/>
          </a:p>
        </p:txBody>
      </p:sp>
      <p:sp>
        <p:nvSpPr>
          <p:cNvPr id="18" name="Text 16"/>
          <p:cNvSpPr/>
          <p:nvPr/>
        </p:nvSpPr>
        <p:spPr>
          <a:xfrm>
            <a:off x="4754880" y="841248"/>
            <a:ext cx="4114800" cy="347472"/>
          </a:xfrm>
          <a:prstGeom prst="rect">
            <a:avLst/>
          </a:prstGeom>
          <a:noFill/>
          <a:ln/>
        </p:spPr>
        <p:txBody>
          <a:bodyPr wrap="square" lIns="0" tIns="0" rIns="0" bIns="0"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Key Risks &amp; Mitigations</a:t>
            </a:r>
            <a:endParaRPr lang="en-US" sz="1300" dirty="0"/>
          </a:p>
        </p:txBody>
      </p:sp>
      <p:sp>
        <p:nvSpPr>
          <p:cNvPr id="19" name="Shape 17"/>
          <p:cNvSpPr/>
          <p:nvPr/>
        </p:nvSpPr>
        <p:spPr>
          <a:xfrm>
            <a:off x="4754880" y="1234440"/>
            <a:ext cx="4114800" cy="713232"/>
          </a:xfrm>
          <a:prstGeom prst="rect">
            <a:avLst/>
          </a:prstGeom>
          <a:solidFill>
            <a:srgbClr val="FFFFFF"/>
          </a:solidFill>
          <a:ln w="12700">
            <a:solidFill>
              <a:srgbClr val="E8ECF0"/>
            </a:solidFill>
            <a:prstDash val="solid"/>
          </a:ln>
        </p:spPr>
      </p:sp>
      <p:sp>
        <p:nvSpPr>
          <p:cNvPr id="20" name="Shape 18"/>
          <p:cNvSpPr/>
          <p:nvPr/>
        </p:nvSpPr>
        <p:spPr>
          <a:xfrm>
            <a:off x="4754880" y="1234440"/>
            <a:ext cx="164592" cy="713232"/>
          </a:xfrm>
          <a:prstGeom prst="rect">
            <a:avLst/>
          </a:prstGeom>
          <a:solidFill>
            <a:srgbClr val="E74C3C"/>
          </a:solidFill>
          <a:ln w="12700">
            <a:solidFill>
              <a:srgbClr val="E74C3C"/>
            </a:solidFill>
            <a:prstDash val="solid"/>
          </a:ln>
        </p:spPr>
      </p:sp>
      <p:sp>
        <p:nvSpPr>
          <p:cNvPr id="21" name="Text 19"/>
          <p:cNvSpPr/>
          <p:nvPr/>
        </p:nvSpPr>
        <p:spPr>
          <a:xfrm>
            <a:off x="4983480" y="1271016"/>
            <a:ext cx="3794760" cy="256032"/>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Regulatory reclassification</a:t>
            </a:r>
            <a:endParaRPr lang="en-US" sz="1100" dirty="0"/>
          </a:p>
        </p:txBody>
      </p:sp>
      <p:sp>
        <p:nvSpPr>
          <p:cNvPr id="22" name="Text 20"/>
          <p:cNvSpPr/>
          <p:nvPr/>
        </p:nvSpPr>
        <p:spPr>
          <a:xfrm>
            <a:off x="4983480" y="1554480"/>
            <a:ext cx="3794760" cy="347472"/>
          </a:xfrm>
          <a:prstGeom prst="rect">
            <a:avLst/>
          </a:prstGeom>
          <a:noFill/>
          <a:ln/>
        </p:spPr>
        <p:txBody>
          <a:bodyPr wrap="square" lIns="0" tIns="0" rIns="0" bIns="0" rtlCol="0" anchor="ctr"/>
          <a:lstStyle/>
          <a:p>
            <a:pPr indent="0" marL="0">
              <a:buNone/>
            </a:pPr>
            <a:r>
              <a:rPr lang="en-US" sz="1050" dirty="0">
                <a:solidFill>
                  <a:srgbClr val="00897B"/>
                </a:solidFill>
                <a:latin typeface="Calibri" pitchFamily="34" charset="0"/>
                <a:ea typeface="Calibri" pitchFamily="34" charset="-122"/>
                <a:cs typeface="Calibri" pitchFamily="34" charset="-120"/>
              </a:rPr>
              <a:t>✓ 'No fund handling' architecture hardcoded — confirmed at infrastructure level, not policy only.</a:t>
            </a:r>
            <a:endParaRPr lang="en-US" sz="1050" dirty="0"/>
          </a:p>
        </p:txBody>
      </p:sp>
      <p:sp>
        <p:nvSpPr>
          <p:cNvPr id="23" name="Shape 21"/>
          <p:cNvSpPr/>
          <p:nvPr/>
        </p:nvSpPr>
        <p:spPr>
          <a:xfrm>
            <a:off x="4754880" y="2011680"/>
            <a:ext cx="4114800" cy="713232"/>
          </a:xfrm>
          <a:prstGeom prst="rect">
            <a:avLst/>
          </a:prstGeom>
          <a:solidFill>
            <a:srgbClr val="F7F8FA"/>
          </a:solidFill>
          <a:ln w="12700">
            <a:solidFill>
              <a:srgbClr val="E8ECF0"/>
            </a:solidFill>
            <a:prstDash val="solid"/>
          </a:ln>
        </p:spPr>
      </p:sp>
      <p:sp>
        <p:nvSpPr>
          <p:cNvPr id="24" name="Shape 22"/>
          <p:cNvSpPr/>
          <p:nvPr/>
        </p:nvSpPr>
        <p:spPr>
          <a:xfrm>
            <a:off x="4754880" y="2011680"/>
            <a:ext cx="164592" cy="713232"/>
          </a:xfrm>
          <a:prstGeom prst="rect">
            <a:avLst/>
          </a:prstGeom>
          <a:solidFill>
            <a:srgbClr val="E74C3C"/>
          </a:solidFill>
          <a:ln w="12700">
            <a:solidFill>
              <a:srgbClr val="E74C3C"/>
            </a:solidFill>
            <a:prstDash val="solid"/>
          </a:ln>
        </p:spPr>
      </p:sp>
      <p:sp>
        <p:nvSpPr>
          <p:cNvPr id="25" name="Text 23"/>
          <p:cNvSpPr/>
          <p:nvPr/>
        </p:nvSpPr>
        <p:spPr>
          <a:xfrm>
            <a:off x="4983480" y="2048256"/>
            <a:ext cx="3794760" cy="256032"/>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SMS parse failure</a:t>
            </a:r>
            <a:endParaRPr lang="en-US" sz="1100" dirty="0"/>
          </a:p>
        </p:txBody>
      </p:sp>
      <p:sp>
        <p:nvSpPr>
          <p:cNvPr id="26" name="Text 24"/>
          <p:cNvSpPr/>
          <p:nvPr/>
        </p:nvSpPr>
        <p:spPr>
          <a:xfrm>
            <a:off x="4983480" y="2331720"/>
            <a:ext cx="3794760" cy="347472"/>
          </a:xfrm>
          <a:prstGeom prst="rect">
            <a:avLst/>
          </a:prstGeom>
          <a:noFill/>
          <a:ln/>
        </p:spPr>
        <p:txBody>
          <a:bodyPr wrap="square" lIns="0" tIns="0" rIns="0" bIns="0" rtlCol="0" anchor="ctr"/>
          <a:lstStyle/>
          <a:p>
            <a:pPr indent="0" marL="0">
              <a:buNone/>
            </a:pPr>
            <a:r>
              <a:rPr lang="en-US" sz="1050" dirty="0">
                <a:solidFill>
                  <a:srgbClr val="00897B"/>
                </a:solidFill>
                <a:latin typeface="Calibri" pitchFamily="34" charset="0"/>
                <a:ea typeface="Calibri" pitchFamily="34" charset="-122"/>
                <a:cs typeface="Calibri" pitchFamily="34" charset="-120"/>
              </a:rPr>
              <a:t>✓ Manual entry fallback always available. 90% target with full audit of failures.</a:t>
            </a:r>
            <a:endParaRPr lang="en-US" sz="1050" dirty="0"/>
          </a:p>
        </p:txBody>
      </p:sp>
      <p:sp>
        <p:nvSpPr>
          <p:cNvPr id="27" name="Shape 25"/>
          <p:cNvSpPr/>
          <p:nvPr/>
        </p:nvSpPr>
        <p:spPr>
          <a:xfrm>
            <a:off x="4754880" y="2788920"/>
            <a:ext cx="4114800" cy="713232"/>
          </a:xfrm>
          <a:prstGeom prst="rect">
            <a:avLst/>
          </a:prstGeom>
          <a:solidFill>
            <a:srgbClr val="FFFFFF"/>
          </a:solidFill>
          <a:ln w="12700">
            <a:solidFill>
              <a:srgbClr val="E8ECF0"/>
            </a:solidFill>
            <a:prstDash val="solid"/>
          </a:ln>
        </p:spPr>
      </p:sp>
      <p:sp>
        <p:nvSpPr>
          <p:cNvPr id="28" name="Shape 26"/>
          <p:cNvSpPr/>
          <p:nvPr/>
        </p:nvSpPr>
        <p:spPr>
          <a:xfrm>
            <a:off x="4754880" y="2788920"/>
            <a:ext cx="164592" cy="713232"/>
          </a:xfrm>
          <a:prstGeom prst="rect">
            <a:avLst/>
          </a:prstGeom>
          <a:solidFill>
            <a:srgbClr val="E74C3C"/>
          </a:solidFill>
          <a:ln w="12700">
            <a:solidFill>
              <a:srgbClr val="E74C3C"/>
            </a:solidFill>
            <a:prstDash val="solid"/>
          </a:ln>
        </p:spPr>
      </p:sp>
      <p:sp>
        <p:nvSpPr>
          <p:cNvPr id="29" name="Text 27"/>
          <p:cNvSpPr/>
          <p:nvPr/>
        </p:nvSpPr>
        <p:spPr>
          <a:xfrm>
            <a:off x="4983480" y="2825496"/>
            <a:ext cx="3794760" cy="256032"/>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User data privacy</a:t>
            </a:r>
            <a:endParaRPr lang="en-US" sz="1100" dirty="0"/>
          </a:p>
        </p:txBody>
      </p:sp>
      <p:sp>
        <p:nvSpPr>
          <p:cNvPr id="30" name="Text 28"/>
          <p:cNvSpPr/>
          <p:nvPr/>
        </p:nvSpPr>
        <p:spPr>
          <a:xfrm>
            <a:off x="4983480" y="3108960"/>
            <a:ext cx="3794760" cy="347472"/>
          </a:xfrm>
          <a:prstGeom prst="rect">
            <a:avLst/>
          </a:prstGeom>
          <a:noFill/>
          <a:ln/>
        </p:spPr>
        <p:txBody>
          <a:bodyPr wrap="square" lIns="0" tIns="0" rIns="0" bIns="0" rtlCol="0" anchor="ctr"/>
          <a:lstStyle/>
          <a:p>
            <a:pPr indent="0" marL="0">
              <a:buNone/>
            </a:pPr>
            <a:r>
              <a:rPr lang="en-US" sz="1050" dirty="0">
                <a:solidFill>
                  <a:srgbClr val="00897B"/>
                </a:solidFill>
                <a:latin typeface="Calibri" pitchFamily="34" charset="0"/>
                <a:ea typeface="Calibri" pitchFamily="34" charset="-122"/>
                <a:cs typeface="Calibri" pitchFamily="34" charset="-120"/>
              </a:rPr>
              <a:t>✓ Supabase RLS policies; data minimisation; GDPR-aligned privacy policy.</a:t>
            </a:r>
            <a:endParaRPr lang="en-US" sz="1050" dirty="0"/>
          </a:p>
        </p:txBody>
      </p:sp>
      <p:sp>
        <p:nvSpPr>
          <p:cNvPr id="31" name="Shape 29"/>
          <p:cNvSpPr/>
          <p:nvPr/>
        </p:nvSpPr>
        <p:spPr>
          <a:xfrm>
            <a:off x="4754880" y="3566160"/>
            <a:ext cx="4114800" cy="713232"/>
          </a:xfrm>
          <a:prstGeom prst="rect">
            <a:avLst/>
          </a:prstGeom>
          <a:solidFill>
            <a:srgbClr val="F7F8FA"/>
          </a:solidFill>
          <a:ln w="12700">
            <a:solidFill>
              <a:srgbClr val="E8ECF0"/>
            </a:solidFill>
            <a:prstDash val="solid"/>
          </a:ln>
        </p:spPr>
      </p:sp>
      <p:sp>
        <p:nvSpPr>
          <p:cNvPr id="32" name="Shape 30"/>
          <p:cNvSpPr/>
          <p:nvPr/>
        </p:nvSpPr>
        <p:spPr>
          <a:xfrm>
            <a:off x="4754880" y="3566160"/>
            <a:ext cx="164592" cy="713232"/>
          </a:xfrm>
          <a:prstGeom prst="rect">
            <a:avLst/>
          </a:prstGeom>
          <a:solidFill>
            <a:srgbClr val="E74C3C"/>
          </a:solidFill>
          <a:ln w="12700">
            <a:solidFill>
              <a:srgbClr val="E74C3C"/>
            </a:solidFill>
            <a:prstDash val="solid"/>
          </a:ln>
        </p:spPr>
      </p:sp>
      <p:sp>
        <p:nvSpPr>
          <p:cNvPr id="33" name="Text 31"/>
          <p:cNvSpPr/>
          <p:nvPr/>
        </p:nvSpPr>
        <p:spPr>
          <a:xfrm>
            <a:off x="4983480" y="3602736"/>
            <a:ext cx="3794760" cy="256032"/>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AML / suspicious activity</a:t>
            </a:r>
            <a:endParaRPr lang="en-US" sz="1100" dirty="0"/>
          </a:p>
        </p:txBody>
      </p:sp>
      <p:sp>
        <p:nvSpPr>
          <p:cNvPr id="34" name="Text 32"/>
          <p:cNvSpPr/>
          <p:nvPr/>
        </p:nvSpPr>
        <p:spPr>
          <a:xfrm>
            <a:off x="4983480" y="3886200"/>
            <a:ext cx="3794760" cy="347472"/>
          </a:xfrm>
          <a:prstGeom prst="rect">
            <a:avLst/>
          </a:prstGeom>
          <a:noFill/>
          <a:ln/>
        </p:spPr>
        <p:txBody>
          <a:bodyPr wrap="square" lIns="0" tIns="0" rIns="0" bIns="0" rtlCol="0" anchor="ctr"/>
          <a:lstStyle/>
          <a:p>
            <a:pPr indent="0" marL="0">
              <a:buNone/>
            </a:pPr>
            <a:r>
              <a:rPr lang="en-US" sz="1050" dirty="0">
                <a:solidFill>
                  <a:srgbClr val="00897B"/>
                </a:solidFill>
                <a:latin typeface="Calibri" pitchFamily="34" charset="0"/>
                <a:ea typeface="Calibri" pitchFamily="34" charset="-122"/>
                <a:cs typeface="Calibri" pitchFamily="34" charset="-120"/>
              </a:rPr>
              <a:t>✓ Fund limits + growth rate monitoring + AML escalation triggers + CEO review protocol.</a:t>
            </a:r>
            <a:endParaRPr lang="en-US" sz="1050" dirty="0"/>
          </a:p>
        </p:txBody>
      </p:sp>
      <p:sp>
        <p:nvSpPr>
          <p:cNvPr id="35" name="Text 33"/>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6B7A8D"/>
                </a:solidFill>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09  |  Expected Outcomes of Sandbox Participation</a:t>
            </a:r>
            <a:endParaRPr lang="en-US" sz="1800" dirty="0"/>
          </a:p>
        </p:txBody>
      </p:sp>
      <p:sp>
        <p:nvSpPr>
          <p:cNvPr id="5" name="Shape 3"/>
          <p:cNvSpPr/>
          <p:nvPr/>
        </p:nvSpPr>
        <p:spPr>
          <a:xfrm>
            <a:off x="365760" y="91440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914400"/>
            <a:ext cx="2743200" cy="457200"/>
          </a:xfrm>
          <a:prstGeom prst="rect">
            <a:avLst/>
          </a:prstGeom>
          <a:solidFill>
            <a:srgbClr val="1A2B4A"/>
          </a:solidFill>
          <a:ln w="12700">
            <a:solidFill>
              <a:srgbClr val="1A2B4A"/>
            </a:solidFill>
            <a:prstDash val="solid"/>
          </a:ln>
        </p:spPr>
      </p:sp>
      <p:sp>
        <p:nvSpPr>
          <p:cNvPr id="7" name="Text 5"/>
          <p:cNvSpPr/>
          <p:nvPr/>
        </p:nvSpPr>
        <p:spPr>
          <a:xfrm>
            <a:off x="457200" y="96926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Regulatory Clarity</a:t>
            </a:r>
            <a:endParaRPr lang="en-US" sz="1200" dirty="0"/>
          </a:p>
        </p:txBody>
      </p:sp>
      <p:sp>
        <p:nvSpPr>
          <p:cNvPr id="8" name="Text 6"/>
          <p:cNvSpPr/>
          <p:nvPr/>
        </p:nvSpPr>
        <p:spPr>
          <a:xfrm>
            <a:off x="457200" y="146304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Empirical evidence submitted to BoB confirming Tshelo's classification as a transparency and record-keeping tool — not a payment processor, deposit-taker, or money transfer service.</a:t>
            </a:r>
            <a:endParaRPr lang="en-US" sz="1050" dirty="0"/>
          </a:p>
        </p:txBody>
      </p:sp>
      <p:sp>
        <p:nvSpPr>
          <p:cNvPr id="9" name="Shape 7"/>
          <p:cNvSpPr/>
          <p:nvPr/>
        </p:nvSpPr>
        <p:spPr>
          <a:xfrm>
            <a:off x="3291840" y="91440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91840" y="914400"/>
            <a:ext cx="2743200" cy="457200"/>
          </a:xfrm>
          <a:prstGeom prst="rect">
            <a:avLst/>
          </a:prstGeom>
          <a:solidFill>
            <a:srgbClr val="00897B"/>
          </a:solidFill>
          <a:ln w="12700">
            <a:solidFill>
              <a:srgbClr val="00897B"/>
            </a:solidFill>
            <a:prstDash val="solid"/>
          </a:ln>
        </p:spPr>
      </p:sp>
      <p:sp>
        <p:nvSpPr>
          <p:cNvPr id="11" name="Text 9"/>
          <p:cNvSpPr/>
          <p:nvPr/>
        </p:nvSpPr>
        <p:spPr>
          <a:xfrm>
            <a:off x="3383280" y="96926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Validated Product</a:t>
            </a:r>
            <a:endParaRPr lang="en-US" sz="1200" dirty="0"/>
          </a:p>
        </p:txBody>
      </p:sp>
      <p:sp>
        <p:nvSpPr>
          <p:cNvPr id="12" name="Text 10"/>
          <p:cNvSpPr/>
          <p:nvPr/>
        </p:nvSpPr>
        <p:spPr>
          <a:xfrm>
            <a:off x="3383280" y="146304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Real-world performance data across SMS detection (≥90%), receipt scanning (≥85%), and PDF audit reports (100%). All 4 test scenarios completed with full documentation.</a:t>
            </a:r>
            <a:endParaRPr lang="en-US" sz="1050" dirty="0"/>
          </a:p>
        </p:txBody>
      </p:sp>
      <p:sp>
        <p:nvSpPr>
          <p:cNvPr id="13" name="Shape 11"/>
          <p:cNvSpPr/>
          <p:nvPr/>
        </p:nvSpPr>
        <p:spPr>
          <a:xfrm>
            <a:off x="6217920" y="91440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217920" y="914400"/>
            <a:ext cx="2743200" cy="457200"/>
          </a:xfrm>
          <a:prstGeom prst="rect">
            <a:avLst/>
          </a:prstGeom>
          <a:solidFill>
            <a:srgbClr val="E8A020"/>
          </a:solidFill>
          <a:ln w="12700">
            <a:solidFill>
              <a:srgbClr val="E8A020"/>
            </a:solidFill>
            <a:prstDash val="solid"/>
          </a:ln>
        </p:spPr>
      </p:sp>
      <p:sp>
        <p:nvSpPr>
          <p:cNvPr id="15" name="Text 13"/>
          <p:cNvSpPr/>
          <p:nvPr/>
        </p:nvSpPr>
        <p:spPr>
          <a:xfrm>
            <a:off x="6309360" y="96926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Formalised Partnerships</a:t>
            </a:r>
            <a:endParaRPr lang="en-US" sz="1200" dirty="0"/>
          </a:p>
        </p:txBody>
      </p:sp>
      <p:sp>
        <p:nvSpPr>
          <p:cNvPr id="16" name="Text 14"/>
          <p:cNvSpPr/>
          <p:nvPr/>
        </p:nvSpPr>
        <p:spPr>
          <a:xfrm>
            <a:off x="6309360" y="146304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Partnership discussions with Orange Money, MyZaka, and Smega advanced and formalised during testing. BTC infrastructure engagement confirmed.</a:t>
            </a:r>
            <a:endParaRPr lang="en-US" sz="1050" dirty="0"/>
          </a:p>
        </p:txBody>
      </p:sp>
      <p:sp>
        <p:nvSpPr>
          <p:cNvPr id="17" name="Shape 15"/>
          <p:cNvSpPr/>
          <p:nvPr/>
        </p:nvSpPr>
        <p:spPr>
          <a:xfrm>
            <a:off x="365760" y="292608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65760" y="2926080"/>
            <a:ext cx="2743200" cy="457200"/>
          </a:xfrm>
          <a:prstGeom prst="rect">
            <a:avLst/>
          </a:prstGeom>
          <a:solidFill>
            <a:srgbClr val="2A3F6A"/>
          </a:solidFill>
          <a:ln w="12700">
            <a:solidFill>
              <a:srgbClr val="2A3F6A"/>
            </a:solidFill>
            <a:prstDash val="solid"/>
          </a:ln>
        </p:spPr>
      </p:sp>
      <p:sp>
        <p:nvSpPr>
          <p:cNvPr id="19" name="Text 17"/>
          <p:cNvSpPr/>
          <p:nvPr/>
        </p:nvSpPr>
        <p:spPr>
          <a:xfrm>
            <a:off x="457200" y="298094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Commercial Launch Readiness</a:t>
            </a:r>
            <a:endParaRPr lang="en-US" sz="1200" dirty="0"/>
          </a:p>
        </p:txBody>
      </p:sp>
      <p:sp>
        <p:nvSpPr>
          <p:cNvPr id="20" name="Text 18"/>
          <p:cNvSpPr/>
          <p:nvPr/>
        </p:nvSpPr>
        <p:spPr>
          <a:xfrm>
            <a:off x="457200" y="347472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Full commercial launch plan submitted to BoB. Lessons from sandbox incorporated into Version 2.0 roadmap. Expansion planning to Kenya and South Africa initiated.</a:t>
            </a:r>
            <a:endParaRPr lang="en-US" sz="1050" dirty="0"/>
          </a:p>
        </p:txBody>
      </p:sp>
      <p:sp>
        <p:nvSpPr>
          <p:cNvPr id="21" name="Shape 19"/>
          <p:cNvSpPr/>
          <p:nvPr/>
        </p:nvSpPr>
        <p:spPr>
          <a:xfrm>
            <a:off x="3291840" y="292608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91840" y="2926080"/>
            <a:ext cx="2743200" cy="457200"/>
          </a:xfrm>
          <a:prstGeom prst="rect">
            <a:avLst/>
          </a:prstGeom>
          <a:solidFill>
            <a:srgbClr val="00897B"/>
          </a:solidFill>
          <a:ln w="12700">
            <a:solidFill>
              <a:srgbClr val="00897B"/>
            </a:solidFill>
            <a:prstDash val="solid"/>
          </a:ln>
        </p:spPr>
      </p:sp>
      <p:sp>
        <p:nvSpPr>
          <p:cNvPr id="23" name="Text 21"/>
          <p:cNvSpPr/>
          <p:nvPr/>
        </p:nvSpPr>
        <p:spPr>
          <a:xfrm>
            <a:off x="3383280" y="298094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Community Trust Established</a:t>
            </a:r>
            <a:endParaRPr lang="en-US" sz="1200" dirty="0"/>
          </a:p>
        </p:txBody>
      </p:sp>
      <p:sp>
        <p:nvSpPr>
          <p:cNvPr id="24" name="Text 22"/>
          <p:cNvSpPr/>
          <p:nvPr/>
        </p:nvSpPr>
        <p:spPr>
          <a:xfrm>
            <a:off x="3383280" y="347472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Minimum 50 real users with demonstrated satisfaction scores ≥4/5. Consumer redress framework validated. Botswana community advocates identified for commercial rollout.</a:t>
            </a:r>
            <a:endParaRPr lang="en-US" sz="1050" dirty="0"/>
          </a:p>
        </p:txBody>
      </p:sp>
      <p:sp>
        <p:nvSpPr>
          <p:cNvPr id="25" name="Shape 23"/>
          <p:cNvSpPr/>
          <p:nvPr/>
        </p:nvSpPr>
        <p:spPr>
          <a:xfrm>
            <a:off x="6217920" y="2926080"/>
            <a:ext cx="2743200" cy="182880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217920" y="2926080"/>
            <a:ext cx="2743200" cy="457200"/>
          </a:xfrm>
          <a:prstGeom prst="rect">
            <a:avLst/>
          </a:prstGeom>
          <a:solidFill>
            <a:srgbClr val="1A2B4A"/>
          </a:solidFill>
          <a:ln w="12700">
            <a:solidFill>
              <a:srgbClr val="1A2B4A"/>
            </a:solidFill>
            <a:prstDash val="solid"/>
          </a:ln>
        </p:spPr>
      </p:sp>
      <p:sp>
        <p:nvSpPr>
          <p:cNvPr id="27" name="Text 25"/>
          <p:cNvSpPr/>
          <p:nvPr/>
        </p:nvSpPr>
        <p:spPr>
          <a:xfrm>
            <a:off x="6309360" y="2980944"/>
            <a:ext cx="25603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Precedent for Innovation</a:t>
            </a:r>
            <a:endParaRPr lang="en-US" sz="1200" dirty="0"/>
          </a:p>
        </p:txBody>
      </p:sp>
      <p:sp>
        <p:nvSpPr>
          <p:cNvPr id="28" name="Text 26"/>
          <p:cNvSpPr/>
          <p:nvPr/>
        </p:nvSpPr>
        <p:spPr>
          <a:xfrm>
            <a:off x="6309360" y="3474720"/>
            <a:ext cx="2560320" cy="118872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Tshelo's sandbox participation creates a regulatory pathway for similar transparency-layer fintech innovations in Botswana and across Africa.</a:t>
            </a:r>
            <a:endParaRPr lang="en-US" sz="1050" dirty="0"/>
          </a:p>
        </p:txBody>
      </p:sp>
      <p:sp>
        <p:nvSpPr>
          <p:cNvPr id="29" name="Text 27"/>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6B7A8D"/>
                </a:solidFill>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10  |  The Tshelo Difference – Before &amp; After</a:t>
            </a:r>
            <a:endParaRPr lang="en-US" sz="1800" dirty="0"/>
          </a:p>
        </p:txBody>
      </p:sp>
      <p:sp>
        <p:nvSpPr>
          <p:cNvPr id="5" name="Shape 3"/>
          <p:cNvSpPr/>
          <p:nvPr/>
        </p:nvSpPr>
        <p:spPr>
          <a:xfrm>
            <a:off x="365760" y="896112"/>
            <a:ext cx="2743200" cy="384048"/>
          </a:xfrm>
          <a:prstGeom prst="rect">
            <a:avLst/>
          </a:prstGeom>
          <a:solidFill>
            <a:srgbClr val="1A2B4A"/>
          </a:solidFill>
          <a:ln w="12700">
            <a:solidFill>
              <a:srgbClr val="1A2B4A"/>
            </a:solidFill>
            <a:prstDash val="solid"/>
          </a:ln>
        </p:spPr>
      </p:sp>
      <p:sp>
        <p:nvSpPr>
          <p:cNvPr id="6" name="Shape 4"/>
          <p:cNvSpPr/>
          <p:nvPr/>
        </p:nvSpPr>
        <p:spPr>
          <a:xfrm>
            <a:off x="3154680" y="896112"/>
            <a:ext cx="2743200" cy="384048"/>
          </a:xfrm>
          <a:prstGeom prst="rect">
            <a:avLst/>
          </a:prstGeom>
          <a:solidFill>
            <a:srgbClr val="E74C3C"/>
          </a:solidFill>
          <a:ln w="12700">
            <a:solidFill>
              <a:srgbClr val="E74C3C"/>
            </a:solidFill>
            <a:prstDash val="solid"/>
          </a:ln>
        </p:spPr>
      </p:sp>
      <p:sp>
        <p:nvSpPr>
          <p:cNvPr id="7" name="Shape 5"/>
          <p:cNvSpPr/>
          <p:nvPr/>
        </p:nvSpPr>
        <p:spPr>
          <a:xfrm>
            <a:off x="5943600" y="896112"/>
            <a:ext cx="2834640" cy="384048"/>
          </a:xfrm>
          <a:prstGeom prst="rect">
            <a:avLst/>
          </a:prstGeom>
          <a:solidFill>
            <a:srgbClr val="00897B"/>
          </a:solidFill>
          <a:ln w="12700">
            <a:solidFill>
              <a:srgbClr val="00897B"/>
            </a:solidFill>
            <a:prstDash val="solid"/>
          </a:ln>
        </p:spPr>
      </p:sp>
      <p:sp>
        <p:nvSpPr>
          <p:cNvPr id="8" name="Text 6"/>
          <p:cNvSpPr/>
          <p:nvPr/>
        </p:nvSpPr>
        <p:spPr>
          <a:xfrm>
            <a:off x="411480" y="91440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p>
        </p:txBody>
      </p:sp>
      <p:sp>
        <p:nvSpPr>
          <p:cNvPr id="9" name="Text 7"/>
          <p:cNvSpPr/>
          <p:nvPr/>
        </p:nvSpPr>
        <p:spPr>
          <a:xfrm>
            <a:off x="3200400" y="91440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Before Tshelo</a:t>
            </a:r>
            <a:endParaRPr lang="en-US" sz="1200" dirty="0"/>
          </a:p>
        </p:txBody>
      </p:sp>
      <p:sp>
        <p:nvSpPr>
          <p:cNvPr id="10" name="Text 8"/>
          <p:cNvSpPr/>
          <p:nvPr/>
        </p:nvSpPr>
        <p:spPr>
          <a:xfrm>
            <a:off x="5989320" y="91440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With Tshelo</a:t>
            </a:r>
            <a:endParaRPr lang="en-US" sz="1200" dirty="0"/>
          </a:p>
        </p:txBody>
      </p:sp>
      <p:sp>
        <p:nvSpPr>
          <p:cNvPr id="11" name="Shape 9"/>
          <p:cNvSpPr/>
          <p:nvPr/>
        </p:nvSpPr>
        <p:spPr>
          <a:xfrm>
            <a:off x="365760" y="1298448"/>
            <a:ext cx="2743200" cy="566928"/>
          </a:xfrm>
          <a:prstGeom prst="rect">
            <a:avLst/>
          </a:prstGeom>
          <a:solidFill>
            <a:srgbClr val="FFFFFF"/>
          </a:solidFill>
          <a:ln w="12700">
            <a:solidFill>
              <a:srgbClr val="E8ECF0"/>
            </a:solidFill>
            <a:prstDash val="solid"/>
          </a:ln>
        </p:spPr>
      </p:sp>
      <p:sp>
        <p:nvSpPr>
          <p:cNvPr id="12" name="Shape 10"/>
          <p:cNvSpPr/>
          <p:nvPr/>
        </p:nvSpPr>
        <p:spPr>
          <a:xfrm>
            <a:off x="3154680" y="1298448"/>
            <a:ext cx="2743200" cy="566928"/>
          </a:xfrm>
          <a:prstGeom prst="rect">
            <a:avLst/>
          </a:prstGeom>
          <a:solidFill>
            <a:srgbClr val="FFFFFF"/>
          </a:solidFill>
          <a:ln w="12700">
            <a:solidFill>
              <a:srgbClr val="E8ECF0"/>
            </a:solidFill>
            <a:prstDash val="solid"/>
          </a:ln>
        </p:spPr>
      </p:sp>
      <p:sp>
        <p:nvSpPr>
          <p:cNvPr id="13" name="Shape 11"/>
          <p:cNvSpPr/>
          <p:nvPr/>
        </p:nvSpPr>
        <p:spPr>
          <a:xfrm>
            <a:off x="5943600" y="1298448"/>
            <a:ext cx="2834640" cy="566928"/>
          </a:xfrm>
          <a:prstGeom prst="rect">
            <a:avLst/>
          </a:prstGeom>
          <a:solidFill>
            <a:srgbClr val="FFFFFF"/>
          </a:solidFill>
          <a:ln w="12700">
            <a:solidFill>
              <a:srgbClr val="E8ECF0"/>
            </a:solidFill>
            <a:prstDash val="solid"/>
          </a:ln>
        </p:spPr>
      </p:sp>
      <p:sp>
        <p:nvSpPr>
          <p:cNvPr id="14" name="Text 12"/>
          <p:cNvSpPr/>
          <p:nvPr/>
        </p:nvSpPr>
        <p:spPr>
          <a:xfrm>
            <a:off x="457200" y="1344168"/>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Managing contributions</a:t>
            </a:r>
            <a:endParaRPr lang="en-US" sz="1100" dirty="0"/>
          </a:p>
        </p:txBody>
      </p:sp>
      <p:sp>
        <p:nvSpPr>
          <p:cNvPr id="15" name="Text 13"/>
          <p:cNvSpPr/>
          <p:nvPr/>
        </p:nvSpPr>
        <p:spPr>
          <a:xfrm>
            <a:off x="3246120" y="1344168"/>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WhatsApp messages &amp; paper lists</a:t>
            </a:r>
            <a:endParaRPr lang="en-US" sz="1100" dirty="0"/>
          </a:p>
        </p:txBody>
      </p:sp>
      <p:sp>
        <p:nvSpPr>
          <p:cNvPr id="16" name="Text 14"/>
          <p:cNvSpPr/>
          <p:nvPr/>
        </p:nvSpPr>
        <p:spPr>
          <a:xfrm>
            <a:off x="6016752" y="1344168"/>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Real-time digital dashboard</a:t>
            </a:r>
            <a:endParaRPr lang="en-US" sz="1100" dirty="0"/>
          </a:p>
        </p:txBody>
      </p:sp>
      <p:sp>
        <p:nvSpPr>
          <p:cNvPr id="17" name="Shape 15"/>
          <p:cNvSpPr/>
          <p:nvPr/>
        </p:nvSpPr>
        <p:spPr>
          <a:xfrm>
            <a:off x="365760" y="1901952"/>
            <a:ext cx="2743200" cy="566928"/>
          </a:xfrm>
          <a:prstGeom prst="rect">
            <a:avLst/>
          </a:prstGeom>
          <a:solidFill>
            <a:srgbClr val="F7F8FA"/>
          </a:solidFill>
          <a:ln w="12700">
            <a:solidFill>
              <a:srgbClr val="E8ECF0"/>
            </a:solidFill>
            <a:prstDash val="solid"/>
          </a:ln>
        </p:spPr>
      </p:sp>
      <p:sp>
        <p:nvSpPr>
          <p:cNvPr id="18" name="Shape 16"/>
          <p:cNvSpPr/>
          <p:nvPr/>
        </p:nvSpPr>
        <p:spPr>
          <a:xfrm>
            <a:off x="3154680" y="1901952"/>
            <a:ext cx="2743200" cy="566928"/>
          </a:xfrm>
          <a:prstGeom prst="rect">
            <a:avLst/>
          </a:prstGeom>
          <a:solidFill>
            <a:srgbClr val="F7F8FA"/>
          </a:solidFill>
          <a:ln w="12700">
            <a:solidFill>
              <a:srgbClr val="E8ECF0"/>
            </a:solidFill>
            <a:prstDash val="solid"/>
          </a:ln>
        </p:spPr>
      </p:sp>
      <p:sp>
        <p:nvSpPr>
          <p:cNvPr id="19" name="Shape 17"/>
          <p:cNvSpPr/>
          <p:nvPr/>
        </p:nvSpPr>
        <p:spPr>
          <a:xfrm>
            <a:off x="5943600" y="1901952"/>
            <a:ext cx="2834640" cy="566928"/>
          </a:xfrm>
          <a:prstGeom prst="rect">
            <a:avLst/>
          </a:prstGeom>
          <a:solidFill>
            <a:srgbClr val="F7F8FA"/>
          </a:solidFill>
          <a:ln w="12700">
            <a:solidFill>
              <a:srgbClr val="E8ECF0"/>
            </a:solidFill>
            <a:prstDash val="solid"/>
          </a:ln>
        </p:spPr>
      </p:sp>
      <p:sp>
        <p:nvSpPr>
          <p:cNvPr id="20" name="Text 18"/>
          <p:cNvSpPr/>
          <p:nvPr/>
        </p:nvSpPr>
        <p:spPr>
          <a:xfrm>
            <a:off x="457200" y="1947672"/>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Payment confirmation</a:t>
            </a:r>
            <a:endParaRPr lang="en-US" sz="1100" dirty="0"/>
          </a:p>
        </p:txBody>
      </p:sp>
      <p:sp>
        <p:nvSpPr>
          <p:cNvPr id="21" name="Text 19"/>
          <p:cNvSpPr/>
          <p:nvPr/>
        </p:nvSpPr>
        <p:spPr>
          <a:xfrm>
            <a:off x="3246120" y="1947672"/>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Scroll through hundreds of messages</a:t>
            </a:r>
            <a:endParaRPr lang="en-US" sz="1100" dirty="0"/>
          </a:p>
        </p:txBody>
      </p:sp>
      <p:sp>
        <p:nvSpPr>
          <p:cNvPr id="22" name="Text 20"/>
          <p:cNvSpPr/>
          <p:nvPr/>
        </p:nvSpPr>
        <p:spPr>
          <a:xfrm>
            <a:off x="6016752" y="1947672"/>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SMS auto-detected &amp; recorded instantly</a:t>
            </a:r>
            <a:endParaRPr lang="en-US" sz="1100" dirty="0"/>
          </a:p>
        </p:txBody>
      </p:sp>
      <p:sp>
        <p:nvSpPr>
          <p:cNvPr id="23" name="Shape 21"/>
          <p:cNvSpPr/>
          <p:nvPr/>
        </p:nvSpPr>
        <p:spPr>
          <a:xfrm>
            <a:off x="365760" y="2505456"/>
            <a:ext cx="2743200" cy="566928"/>
          </a:xfrm>
          <a:prstGeom prst="rect">
            <a:avLst/>
          </a:prstGeom>
          <a:solidFill>
            <a:srgbClr val="FFFFFF"/>
          </a:solidFill>
          <a:ln w="12700">
            <a:solidFill>
              <a:srgbClr val="E8ECF0"/>
            </a:solidFill>
            <a:prstDash val="solid"/>
          </a:ln>
        </p:spPr>
      </p:sp>
      <p:sp>
        <p:nvSpPr>
          <p:cNvPr id="24" name="Shape 22"/>
          <p:cNvSpPr/>
          <p:nvPr/>
        </p:nvSpPr>
        <p:spPr>
          <a:xfrm>
            <a:off x="3154680" y="2505456"/>
            <a:ext cx="2743200" cy="566928"/>
          </a:xfrm>
          <a:prstGeom prst="rect">
            <a:avLst/>
          </a:prstGeom>
          <a:solidFill>
            <a:srgbClr val="FFFFFF"/>
          </a:solidFill>
          <a:ln w="12700">
            <a:solidFill>
              <a:srgbClr val="E8ECF0"/>
            </a:solidFill>
            <a:prstDash val="solid"/>
          </a:ln>
        </p:spPr>
      </p:sp>
      <p:sp>
        <p:nvSpPr>
          <p:cNvPr id="25" name="Shape 23"/>
          <p:cNvSpPr/>
          <p:nvPr/>
        </p:nvSpPr>
        <p:spPr>
          <a:xfrm>
            <a:off x="5943600" y="2505456"/>
            <a:ext cx="2834640" cy="566928"/>
          </a:xfrm>
          <a:prstGeom prst="rect">
            <a:avLst/>
          </a:prstGeom>
          <a:solidFill>
            <a:srgbClr val="FFFFFF"/>
          </a:solidFill>
          <a:ln w="12700">
            <a:solidFill>
              <a:srgbClr val="E8ECF0"/>
            </a:solidFill>
            <a:prstDash val="solid"/>
          </a:ln>
        </p:spPr>
      </p:sp>
      <p:sp>
        <p:nvSpPr>
          <p:cNvPr id="26" name="Text 24"/>
          <p:cNvSpPr/>
          <p:nvPr/>
        </p:nvSpPr>
        <p:spPr>
          <a:xfrm>
            <a:off x="457200" y="2551176"/>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Expense tracking</a:t>
            </a:r>
            <a:endParaRPr lang="en-US" sz="1100" dirty="0"/>
          </a:p>
        </p:txBody>
      </p:sp>
      <p:sp>
        <p:nvSpPr>
          <p:cNvPr id="27" name="Text 25"/>
          <p:cNvSpPr/>
          <p:nvPr/>
        </p:nvSpPr>
        <p:spPr>
          <a:xfrm>
            <a:off x="3246120" y="2551176"/>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"Trust me, I bought it" / no receipts</a:t>
            </a:r>
            <a:endParaRPr lang="en-US" sz="1100" dirty="0"/>
          </a:p>
        </p:txBody>
      </p:sp>
      <p:sp>
        <p:nvSpPr>
          <p:cNvPr id="28" name="Text 26"/>
          <p:cNvSpPr/>
          <p:nvPr/>
        </p:nvSpPr>
        <p:spPr>
          <a:xfrm>
            <a:off x="6016752" y="2551176"/>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Receipt photo scanned, all visible to members</a:t>
            </a:r>
            <a:endParaRPr lang="en-US" sz="1100" dirty="0"/>
          </a:p>
        </p:txBody>
      </p:sp>
      <p:sp>
        <p:nvSpPr>
          <p:cNvPr id="29" name="Shape 27"/>
          <p:cNvSpPr/>
          <p:nvPr/>
        </p:nvSpPr>
        <p:spPr>
          <a:xfrm>
            <a:off x="365760" y="3108960"/>
            <a:ext cx="2743200" cy="566928"/>
          </a:xfrm>
          <a:prstGeom prst="rect">
            <a:avLst/>
          </a:prstGeom>
          <a:solidFill>
            <a:srgbClr val="F7F8FA"/>
          </a:solidFill>
          <a:ln w="12700">
            <a:solidFill>
              <a:srgbClr val="E8ECF0"/>
            </a:solidFill>
            <a:prstDash val="solid"/>
          </a:ln>
        </p:spPr>
      </p:sp>
      <p:sp>
        <p:nvSpPr>
          <p:cNvPr id="30" name="Shape 28"/>
          <p:cNvSpPr/>
          <p:nvPr/>
        </p:nvSpPr>
        <p:spPr>
          <a:xfrm>
            <a:off x="3154680" y="3108960"/>
            <a:ext cx="2743200" cy="566928"/>
          </a:xfrm>
          <a:prstGeom prst="rect">
            <a:avLst/>
          </a:prstGeom>
          <a:solidFill>
            <a:srgbClr val="F7F8FA"/>
          </a:solidFill>
          <a:ln w="12700">
            <a:solidFill>
              <a:srgbClr val="E8ECF0"/>
            </a:solidFill>
            <a:prstDash val="solid"/>
          </a:ln>
        </p:spPr>
      </p:sp>
      <p:sp>
        <p:nvSpPr>
          <p:cNvPr id="31" name="Shape 29"/>
          <p:cNvSpPr/>
          <p:nvPr/>
        </p:nvSpPr>
        <p:spPr>
          <a:xfrm>
            <a:off x="5943600" y="3108960"/>
            <a:ext cx="2834640" cy="566928"/>
          </a:xfrm>
          <a:prstGeom prst="rect">
            <a:avLst/>
          </a:prstGeom>
          <a:solidFill>
            <a:srgbClr val="F7F8FA"/>
          </a:solidFill>
          <a:ln w="12700">
            <a:solidFill>
              <a:srgbClr val="E8ECF0"/>
            </a:solidFill>
            <a:prstDash val="solid"/>
          </a:ln>
        </p:spPr>
      </p:sp>
      <p:sp>
        <p:nvSpPr>
          <p:cNvPr id="32" name="Text 30"/>
          <p:cNvSpPr/>
          <p:nvPr/>
        </p:nvSpPr>
        <p:spPr>
          <a:xfrm>
            <a:off x="457200" y="3154680"/>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Dispute resolution</a:t>
            </a:r>
            <a:endParaRPr lang="en-US" sz="1100" dirty="0"/>
          </a:p>
        </p:txBody>
      </p:sp>
      <p:sp>
        <p:nvSpPr>
          <p:cNvPr id="33" name="Text 31"/>
          <p:cNvSpPr/>
          <p:nvPr/>
        </p:nvSpPr>
        <p:spPr>
          <a:xfrm>
            <a:off x="3246120" y="3154680"/>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Accusations, family conflict, no proof</a:t>
            </a:r>
            <a:endParaRPr lang="en-US" sz="1100" dirty="0"/>
          </a:p>
        </p:txBody>
      </p:sp>
      <p:sp>
        <p:nvSpPr>
          <p:cNvPr id="34" name="Text 32"/>
          <p:cNvSpPr/>
          <p:nvPr/>
        </p:nvSpPr>
        <p:spPr>
          <a:xfrm>
            <a:off x="6016752" y="3154680"/>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Full audit trail — who edited what and when</a:t>
            </a:r>
            <a:endParaRPr lang="en-US" sz="1100" dirty="0"/>
          </a:p>
        </p:txBody>
      </p:sp>
      <p:sp>
        <p:nvSpPr>
          <p:cNvPr id="35" name="Shape 33"/>
          <p:cNvSpPr/>
          <p:nvPr/>
        </p:nvSpPr>
        <p:spPr>
          <a:xfrm>
            <a:off x="365760" y="3712464"/>
            <a:ext cx="2743200" cy="566928"/>
          </a:xfrm>
          <a:prstGeom prst="rect">
            <a:avLst/>
          </a:prstGeom>
          <a:solidFill>
            <a:srgbClr val="FFFFFF"/>
          </a:solidFill>
          <a:ln w="12700">
            <a:solidFill>
              <a:srgbClr val="E8ECF0"/>
            </a:solidFill>
            <a:prstDash val="solid"/>
          </a:ln>
        </p:spPr>
      </p:sp>
      <p:sp>
        <p:nvSpPr>
          <p:cNvPr id="36" name="Shape 34"/>
          <p:cNvSpPr/>
          <p:nvPr/>
        </p:nvSpPr>
        <p:spPr>
          <a:xfrm>
            <a:off x="3154680" y="3712464"/>
            <a:ext cx="2743200" cy="566928"/>
          </a:xfrm>
          <a:prstGeom prst="rect">
            <a:avLst/>
          </a:prstGeom>
          <a:solidFill>
            <a:srgbClr val="FFFFFF"/>
          </a:solidFill>
          <a:ln w="12700">
            <a:solidFill>
              <a:srgbClr val="E8ECF0"/>
            </a:solidFill>
            <a:prstDash val="solid"/>
          </a:ln>
        </p:spPr>
      </p:sp>
      <p:sp>
        <p:nvSpPr>
          <p:cNvPr id="37" name="Shape 35"/>
          <p:cNvSpPr/>
          <p:nvPr/>
        </p:nvSpPr>
        <p:spPr>
          <a:xfrm>
            <a:off x="5943600" y="3712464"/>
            <a:ext cx="2834640" cy="566928"/>
          </a:xfrm>
          <a:prstGeom prst="rect">
            <a:avLst/>
          </a:prstGeom>
          <a:solidFill>
            <a:srgbClr val="FFFFFF"/>
          </a:solidFill>
          <a:ln w="12700">
            <a:solidFill>
              <a:srgbClr val="E8ECF0"/>
            </a:solidFill>
            <a:prstDash val="solid"/>
          </a:ln>
        </p:spPr>
      </p:sp>
      <p:sp>
        <p:nvSpPr>
          <p:cNvPr id="38" name="Text 36"/>
          <p:cNvSpPr/>
          <p:nvPr/>
        </p:nvSpPr>
        <p:spPr>
          <a:xfrm>
            <a:off x="457200" y="3758184"/>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End-of-fund accountability</a:t>
            </a:r>
            <a:endParaRPr lang="en-US" sz="1100" dirty="0"/>
          </a:p>
        </p:txBody>
      </p:sp>
      <p:sp>
        <p:nvSpPr>
          <p:cNvPr id="39" name="Text 37"/>
          <p:cNvSpPr/>
          <p:nvPr/>
        </p:nvSpPr>
        <p:spPr>
          <a:xfrm>
            <a:off x="3246120" y="3758184"/>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Verbal summary (often disputed)</a:t>
            </a:r>
            <a:endParaRPr lang="en-US" sz="1100" dirty="0"/>
          </a:p>
        </p:txBody>
      </p:sp>
      <p:sp>
        <p:nvSpPr>
          <p:cNvPr id="40" name="Text 38"/>
          <p:cNvSpPr/>
          <p:nvPr/>
        </p:nvSpPr>
        <p:spPr>
          <a:xfrm>
            <a:off x="6016752" y="3758184"/>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PDF audit report generated &amp; shared to all</a:t>
            </a:r>
            <a:endParaRPr lang="en-US" sz="1100" dirty="0"/>
          </a:p>
        </p:txBody>
      </p:sp>
      <p:sp>
        <p:nvSpPr>
          <p:cNvPr id="41" name="Shape 39"/>
          <p:cNvSpPr/>
          <p:nvPr/>
        </p:nvSpPr>
        <p:spPr>
          <a:xfrm>
            <a:off x="365760" y="4315968"/>
            <a:ext cx="2743200" cy="566928"/>
          </a:xfrm>
          <a:prstGeom prst="rect">
            <a:avLst/>
          </a:prstGeom>
          <a:solidFill>
            <a:srgbClr val="F7F8FA"/>
          </a:solidFill>
          <a:ln w="12700">
            <a:solidFill>
              <a:srgbClr val="E8ECF0"/>
            </a:solidFill>
            <a:prstDash val="solid"/>
          </a:ln>
        </p:spPr>
      </p:sp>
      <p:sp>
        <p:nvSpPr>
          <p:cNvPr id="42" name="Shape 40"/>
          <p:cNvSpPr/>
          <p:nvPr/>
        </p:nvSpPr>
        <p:spPr>
          <a:xfrm>
            <a:off x="3154680" y="4315968"/>
            <a:ext cx="2743200" cy="566928"/>
          </a:xfrm>
          <a:prstGeom prst="rect">
            <a:avLst/>
          </a:prstGeom>
          <a:solidFill>
            <a:srgbClr val="F7F8FA"/>
          </a:solidFill>
          <a:ln w="12700">
            <a:solidFill>
              <a:srgbClr val="E8ECF0"/>
            </a:solidFill>
            <a:prstDash val="solid"/>
          </a:ln>
        </p:spPr>
      </p:sp>
      <p:sp>
        <p:nvSpPr>
          <p:cNvPr id="43" name="Shape 41"/>
          <p:cNvSpPr/>
          <p:nvPr/>
        </p:nvSpPr>
        <p:spPr>
          <a:xfrm>
            <a:off x="5943600" y="4315968"/>
            <a:ext cx="2834640" cy="566928"/>
          </a:xfrm>
          <a:prstGeom prst="rect">
            <a:avLst/>
          </a:prstGeom>
          <a:solidFill>
            <a:srgbClr val="F7F8FA"/>
          </a:solidFill>
          <a:ln w="12700">
            <a:solidFill>
              <a:srgbClr val="E8ECF0"/>
            </a:solidFill>
            <a:prstDash val="solid"/>
          </a:ln>
        </p:spPr>
      </p:sp>
      <p:sp>
        <p:nvSpPr>
          <p:cNvPr id="44" name="Text 42"/>
          <p:cNvSpPr/>
          <p:nvPr/>
        </p:nvSpPr>
        <p:spPr>
          <a:xfrm>
            <a:off x="457200" y="4361688"/>
            <a:ext cx="2606040" cy="475488"/>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Regulatory visibility</a:t>
            </a:r>
            <a:endParaRPr lang="en-US" sz="1100" dirty="0"/>
          </a:p>
        </p:txBody>
      </p:sp>
      <p:sp>
        <p:nvSpPr>
          <p:cNvPr id="45" name="Text 43"/>
          <p:cNvSpPr/>
          <p:nvPr/>
        </p:nvSpPr>
        <p:spPr>
          <a:xfrm>
            <a:off x="3246120" y="4361688"/>
            <a:ext cx="2606040" cy="475488"/>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Completely informal, no records</a:t>
            </a:r>
            <a:endParaRPr lang="en-US" sz="1100" dirty="0"/>
          </a:p>
        </p:txBody>
      </p:sp>
      <p:sp>
        <p:nvSpPr>
          <p:cNvPr id="46" name="Text 44"/>
          <p:cNvSpPr/>
          <p:nvPr/>
        </p:nvSpPr>
        <p:spPr>
          <a:xfrm>
            <a:off x="6016752" y="4361688"/>
            <a:ext cx="2697480" cy="475488"/>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Timestamped records; AML-aware design</a:t>
            </a:r>
            <a:endParaRPr lang="en-US" sz="1100" dirty="0"/>
          </a:p>
        </p:txBody>
      </p:sp>
      <p:sp>
        <p:nvSpPr>
          <p:cNvPr id="47" name="Text 45"/>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6B7A8D"/>
                </a:solidFill>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Shape 1"/>
          <p:cNvSpPr/>
          <p:nvPr/>
        </p:nvSpPr>
        <p:spPr>
          <a:xfrm>
            <a:off x="0" y="685800"/>
            <a:ext cx="9144000" cy="54864"/>
          </a:xfrm>
          <a:prstGeom prst="rect">
            <a:avLst/>
          </a:prstGeom>
          <a:solidFill>
            <a:srgbClr val="E8A020"/>
          </a:solidFill>
          <a:ln w="12700">
            <a:solidFill>
              <a:srgbClr val="E8A020"/>
            </a:solidFill>
            <a:prstDash val="solid"/>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11  |  Roadmap &amp; Next Steps</a:t>
            </a:r>
            <a:endParaRPr lang="en-US" sz="1800" dirty="0"/>
          </a:p>
        </p:txBody>
      </p:sp>
      <p:sp>
        <p:nvSpPr>
          <p:cNvPr id="5" name="Shape 3"/>
          <p:cNvSpPr/>
          <p:nvPr/>
        </p:nvSpPr>
        <p:spPr>
          <a:xfrm>
            <a:off x="365760" y="914400"/>
            <a:ext cx="2743200" cy="39319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914400"/>
            <a:ext cx="2743200" cy="594360"/>
          </a:xfrm>
          <a:prstGeom prst="rect">
            <a:avLst/>
          </a:prstGeom>
          <a:solidFill>
            <a:srgbClr val="00897B"/>
          </a:solidFill>
          <a:ln w="12700">
            <a:solidFill>
              <a:srgbClr val="00897B"/>
            </a:solidFill>
            <a:prstDash val="solid"/>
          </a:ln>
        </p:spPr>
      </p:sp>
      <p:sp>
        <p:nvSpPr>
          <p:cNvPr id="7" name="Text 5"/>
          <p:cNvSpPr/>
          <p:nvPr/>
        </p:nvSpPr>
        <p:spPr>
          <a:xfrm>
            <a:off x="457200" y="960120"/>
            <a:ext cx="25603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NOW — Sandbox</a:t>
            </a:r>
            <a:endParaRPr lang="en-US" sz="1400" dirty="0"/>
          </a:p>
        </p:txBody>
      </p:sp>
      <p:sp>
        <p:nvSpPr>
          <p:cNvPr id="8" name="Text 6"/>
          <p:cNvSpPr/>
          <p:nvPr/>
        </p:nvSpPr>
        <p:spPr>
          <a:xfrm>
            <a:off x="502920" y="1600200"/>
            <a:ext cx="2468880" cy="3154680"/>
          </a:xfrm>
          <a:prstGeom prst="rect">
            <a:avLst/>
          </a:prstGeom>
          <a:noFill/>
          <a:ln/>
        </p:spPr>
        <p:txBody>
          <a:bodyPr wrap="square" rtlCol="0" anchor="ctr"/>
          <a:lstStyle/>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App development finalisation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Botswana sandbox testing (6 months)</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Orange Money / MyZaka / Smega integration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50+ real users, 4 test scenarios</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Monthly BoB reporting</a:t>
            </a:r>
            <a:endParaRPr lang="en-US" sz="1150" dirty="0"/>
          </a:p>
        </p:txBody>
      </p:sp>
      <p:sp>
        <p:nvSpPr>
          <p:cNvPr id="9" name="Shape 7"/>
          <p:cNvSpPr/>
          <p:nvPr/>
        </p:nvSpPr>
        <p:spPr>
          <a:xfrm>
            <a:off x="3291840" y="914400"/>
            <a:ext cx="2743200" cy="39319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91840" y="914400"/>
            <a:ext cx="2743200" cy="594360"/>
          </a:xfrm>
          <a:prstGeom prst="rect">
            <a:avLst/>
          </a:prstGeom>
          <a:solidFill>
            <a:srgbClr val="1A2B4A"/>
          </a:solidFill>
          <a:ln w="12700">
            <a:solidFill>
              <a:srgbClr val="1A2B4A"/>
            </a:solidFill>
            <a:prstDash val="solid"/>
          </a:ln>
        </p:spPr>
      </p:sp>
      <p:sp>
        <p:nvSpPr>
          <p:cNvPr id="11" name="Text 9"/>
          <p:cNvSpPr/>
          <p:nvPr/>
        </p:nvSpPr>
        <p:spPr>
          <a:xfrm>
            <a:off x="3383280" y="960120"/>
            <a:ext cx="25603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V2.0 — Expand</a:t>
            </a:r>
            <a:endParaRPr lang="en-US" sz="1400" dirty="0"/>
          </a:p>
        </p:txBody>
      </p:sp>
      <p:sp>
        <p:nvSpPr>
          <p:cNvPr id="12" name="Text 10"/>
          <p:cNvSpPr/>
          <p:nvPr/>
        </p:nvSpPr>
        <p:spPr>
          <a:xfrm>
            <a:off x="3429000" y="1600200"/>
            <a:ext cx="2468880" cy="3154680"/>
          </a:xfrm>
          <a:prstGeom prst="rect">
            <a:avLst/>
          </a:prstGeom>
          <a:noFill/>
          <a:ln/>
        </p:spPr>
        <p:txBody>
          <a:bodyPr wrap="square" rtlCol="0" anchor="ctr"/>
          <a:lstStyle/>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Commercial Botswana launch</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Kenya &amp; South Africa expansion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M-Pesa integration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Bank API integrations</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AI expense suggestions</a:t>
            </a:r>
            <a:endParaRPr lang="en-US" sz="1150" dirty="0"/>
          </a:p>
        </p:txBody>
      </p:sp>
      <p:sp>
        <p:nvSpPr>
          <p:cNvPr id="13" name="Shape 11"/>
          <p:cNvSpPr/>
          <p:nvPr/>
        </p:nvSpPr>
        <p:spPr>
          <a:xfrm>
            <a:off x="6217920" y="914400"/>
            <a:ext cx="2743200" cy="39319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217920" y="914400"/>
            <a:ext cx="2743200" cy="594360"/>
          </a:xfrm>
          <a:prstGeom prst="rect">
            <a:avLst/>
          </a:prstGeom>
          <a:solidFill>
            <a:srgbClr val="E8A020"/>
          </a:solidFill>
          <a:ln w="12700">
            <a:solidFill>
              <a:srgbClr val="E8A020"/>
            </a:solidFill>
            <a:prstDash val="solid"/>
          </a:ln>
        </p:spPr>
      </p:sp>
      <p:sp>
        <p:nvSpPr>
          <p:cNvPr id="15" name="Text 13"/>
          <p:cNvSpPr/>
          <p:nvPr/>
        </p:nvSpPr>
        <p:spPr>
          <a:xfrm>
            <a:off x="6309360" y="960120"/>
            <a:ext cx="25603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V3.0 — Scale</a:t>
            </a:r>
            <a:endParaRPr lang="en-US" sz="1400" dirty="0"/>
          </a:p>
        </p:txBody>
      </p:sp>
      <p:sp>
        <p:nvSpPr>
          <p:cNvPr id="16" name="Text 14"/>
          <p:cNvSpPr/>
          <p:nvPr/>
        </p:nvSpPr>
        <p:spPr>
          <a:xfrm>
            <a:off x="6355080" y="1600200"/>
            <a:ext cx="2468880" cy="3154680"/>
          </a:xfrm>
          <a:prstGeom prst="rect">
            <a:avLst/>
          </a:prstGeom>
          <a:noFill/>
          <a:ln/>
        </p:spPr>
        <p:txBody>
          <a:bodyPr wrap="square" rtlCol="0" anchor="ctr"/>
          <a:lstStyle/>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Ghana &amp; Nigeria expansion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White-label for organisations</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API access for integration partners</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Advanced fraud detection</a:t>
            </a:r>
            <a:endParaRPr lang="en-US" sz="1150" dirty="0"/>
          </a:p>
          <a:p>
            <a:pPr marL="342900" indent="-342900">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Cross-border community funds</a:t>
            </a:r>
            <a:endParaRPr lang="en-US" sz="1150" dirty="0"/>
          </a:p>
        </p:txBody>
      </p:sp>
      <p:sp>
        <p:nvSpPr>
          <p:cNvPr id="17" name="Text 15"/>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6B7A8D"/>
                </a:solidFill>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8A020"/>
          </a:solidFill>
          <a:ln w="12700">
            <a:solidFill>
              <a:srgbClr val="E8A020"/>
            </a:solidFill>
            <a:prstDash val="solid"/>
          </a:ln>
        </p:spPr>
      </p:sp>
      <p:sp>
        <p:nvSpPr>
          <p:cNvPr id="3" name="Shape 1"/>
          <p:cNvSpPr/>
          <p:nvPr/>
        </p:nvSpPr>
        <p:spPr>
          <a:xfrm>
            <a:off x="0" y="4389120"/>
            <a:ext cx="9144000" cy="754380"/>
          </a:xfrm>
          <a:prstGeom prst="rect">
            <a:avLst/>
          </a:prstGeom>
          <a:solidFill>
            <a:srgbClr val="00897B"/>
          </a:solidFill>
          <a:ln w="12700">
            <a:solidFill>
              <a:srgbClr val="00897B"/>
            </a:solidFill>
            <a:prstDash val="solid"/>
          </a:ln>
        </p:spPr>
      </p:sp>
      <p:sp>
        <p:nvSpPr>
          <p:cNvPr id="4" name="Text 2"/>
          <p:cNvSpPr/>
          <p:nvPr/>
        </p:nvSpPr>
        <p:spPr>
          <a:xfrm>
            <a:off x="594360" y="365760"/>
            <a:ext cx="8229600" cy="777240"/>
          </a:xfrm>
          <a:prstGeom prst="rect">
            <a:avLst/>
          </a:prstGeom>
          <a:noFill/>
          <a:ln/>
        </p:spPr>
        <p:txBody>
          <a:bodyPr wrap="square" rtlCol="0" anchor="ctr"/>
          <a:lstStyle/>
          <a:p>
            <a:pPr indent="0" marL="0">
              <a:buNone/>
            </a:pPr>
            <a:r>
              <a:rPr lang="en-US" sz="4600" b="1" spc="1000" kern="0" dirty="0">
                <a:solidFill>
                  <a:srgbClr val="FFFFFF"/>
                </a:solidFill>
                <a:latin typeface="Calibri" pitchFamily="34" charset="0"/>
                <a:ea typeface="Calibri" pitchFamily="34" charset="-122"/>
                <a:cs typeface="Calibri" pitchFamily="34" charset="-120"/>
              </a:rPr>
              <a:t>TSHELO</a:t>
            </a:r>
            <a:endParaRPr lang="en-US" sz="4600" dirty="0"/>
          </a:p>
        </p:txBody>
      </p:sp>
      <p:sp>
        <p:nvSpPr>
          <p:cNvPr id="5" name="Text 3"/>
          <p:cNvSpPr/>
          <p:nvPr/>
        </p:nvSpPr>
        <p:spPr>
          <a:xfrm>
            <a:off x="594360" y="1188720"/>
            <a:ext cx="7315200" cy="411480"/>
          </a:xfrm>
          <a:prstGeom prst="rect">
            <a:avLst/>
          </a:prstGeom>
          <a:noFill/>
          <a:ln/>
        </p:spPr>
        <p:txBody>
          <a:bodyPr wrap="square" rtlCol="0" anchor="ctr"/>
          <a:lstStyle/>
          <a:p>
            <a:pPr indent="0" marL="0">
              <a:buNone/>
            </a:pPr>
            <a:r>
              <a:rPr lang="en-US" sz="1800" i="1" dirty="0">
                <a:solidFill>
                  <a:srgbClr val="E8A020"/>
                </a:solidFill>
                <a:latin typeface="Calibri" pitchFamily="34" charset="0"/>
                <a:ea typeface="Calibri" pitchFamily="34" charset="-122"/>
                <a:cs typeface="Calibri" pitchFamily="34" charset="-120"/>
              </a:rPr>
              <a:t>Community Contributions, Simplified</a:t>
            </a:r>
            <a:endParaRPr lang="en-US" sz="1800" dirty="0"/>
          </a:p>
        </p:txBody>
      </p:sp>
      <p:sp>
        <p:nvSpPr>
          <p:cNvPr id="6" name="Shape 4"/>
          <p:cNvSpPr/>
          <p:nvPr/>
        </p:nvSpPr>
        <p:spPr>
          <a:xfrm>
            <a:off x="594360" y="1691640"/>
            <a:ext cx="5029200" cy="36576"/>
          </a:xfrm>
          <a:prstGeom prst="rect">
            <a:avLst/>
          </a:prstGeom>
          <a:solidFill>
            <a:srgbClr val="6B7A8D"/>
          </a:solidFill>
          <a:ln w="12700">
            <a:solidFill>
              <a:srgbClr val="6B7A8D"/>
            </a:solidFill>
            <a:prstDash val="solid"/>
          </a:ln>
        </p:spPr>
      </p:sp>
      <p:sp>
        <p:nvSpPr>
          <p:cNvPr id="7" name="Text 5"/>
          <p:cNvSpPr/>
          <p:nvPr/>
        </p:nvSpPr>
        <p:spPr>
          <a:xfrm>
            <a:off x="594360" y="1828800"/>
            <a:ext cx="7772400" cy="82296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Thank you for the opportunity to present.</a:t>
            </a:r>
            <a:endParaRPr lang="en-US" sz="1700" dirty="0"/>
          </a:p>
          <a:p>
            <a:pPr indent="0" marL="0">
              <a:buNone/>
            </a:pPr>
            <a:r>
              <a:rPr lang="en-US" sz="1700" dirty="0">
                <a:solidFill>
                  <a:srgbClr val="FFFFFF"/>
                </a:solidFill>
                <a:latin typeface="Calibri" pitchFamily="34" charset="0"/>
                <a:ea typeface="Calibri" pitchFamily="34" charset="-122"/>
                <a:cs typeface="Calibri" pitchFamily="34" charset="-120"/>
              </a:rPr>
              <a:t>We look forward to your questions.</a:t>
            </a:r>
            <a:endParaRPr lang="en-US" sz="1700" dirty="0"/>
          </a:p>
        </p:txBody>
      </p:sp>
      <p:sp>
        <p:nvSpPr>
          <p:cNvPr id="8" name="Text 6"/>
          <p:cNvSpPr/>
          <p:nvPr/>
        </p:nvSpPr>
        <p:spPr>
          <a:xfrm>
            <a:off x="594360" y="2788920"/>
            <a:ext cx="1280160" cy="320040"/>
          </a:xfrm>
          <a:prstGeom prst="rect">
            <a:avLst/>
          </a:prstGeom>
          <a:noFill/>
          <a:ln/>
        </p:spPr>
        <p:txBody>
          <a:bodyPr wrap="square" lIns="0" tIns="0" rIns="0" bIns="0"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Presenter: </a:t>
            </a:r>
            <a:endParaRPr lang="en-US" sz="1200" dirty="0"/>
          </a:p>
        </p:txBody>
      </p:sp>
      <p:sp>
        <p:nvSpPr>
          <p:cNvPr id="9" name="Text 7"/>
          <p:cNvSpPr/>
          <p:nvPr/>
        </p:nvSpPr>
        <p:spPr>
          <a:xfrm>
            <a:off x="1920240" y="2788920"/>
            <a:ext cx="50292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Nono Bokete – CEO, Data Sentinels</a:t>
            </a:r>
            <a:endParaRPr lang="en-US" sz="1200" dirty="0"/>
          </a:p>
        </p:txBody>
      </p:sp>
      <p:sp>
        <p:nvSpPr>
          <p:cNvPr id="10" name="Text 8"/>
          <p:cNvSpPr/>
          <p:nvPr/>
        </p:nvSpPr>
        <p:spPr>
          <a:xfrm>
            <a:off x="594360" y="3136392"/>
            <a:ext cx="1280160" cy="320040"/>
          </a:xfrm>
          <a:prstGeom prst="rect">
            <a:avLst/>
          </a:prstGeom>
          <a:noFill/>
          <a:ln/>
        </p:spPr>
        <p:txBody>
          <a:bodyPr wrap="square" lIns="0" tIns="0" rIns="0" bIns="0"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Email: </a:t>
            </a:r>
            <a:endParaRPr lang="en-US" sz="1200" dirty="0"/>
          </a:p>
        </p:txBody>
      </p:sp>
      <p:sp>
        <p:nvSpPr>
          <p:cNvPr id="11" name="Text 9"/>
          <p:cNvSpPr/>
          <p:nvPr/>
        </p:nvSpPr>
        <p:spPr>
          <a:xfrm>
            <a:off x="1920240" y="3136392"/>
            <a:ext cx="50292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nbokete@data-sentinels.com</a:t>
            </a:r>
            <a:endParaRPr lang="en-US" sz="1200" dirty="0"/>
          </a:p>
        </p:txBody>
      </p:sp>
      <p:sp>
        <p:nvSpPr>
          <p:cNvPr id="12" name="Text 10"/>
          <p:cNvSpPr/>
          <p:nvPr/>
        </p:nvSpPr>
        <p:spPr>
          <a:xfrm>
            <a:off x="594360" y="3483864"/>
            <a:ext cx="1280160" cy="320040"/>
          </a:xfrm>
          <a:prstGeom prst="rect">
            <a:avLst/>
          </a:prstGeom>
          <a:noFill/>
          <a:ln/>
        </p:spPr>
        <p:txBody>
          <a:bodyPr wrap="square" lIns="0" tIns="0" rIns="0" bIns="0"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Website: </a:t>
            </a:r>
            <a:endParaRPr lang="en-US" sz="1200" dirty="0"/>
          </a:p>
        </p:txBody>
      </p:sp>
      <p:sp>
        <p:nvSpPr>
          <p:cNvPr id="13" name="Text 11"/>
          <p:cNvSpPr/>
          <p:nvPr/>
        </p:nvSpPr>
        <p:spPr>
          <a:xfrm>
            <a:off x="1920240" y="3483864"/>
            <a:ext cx="50292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tshelo.com</a:t>
            </a:r>
            <a:endParaRPr lang="en-US" sz="1200" dirty="0"/>
          </a:p>
        </p:txBody>
      </p:sp>
      <p:sp>
        <p:nvSpPr>
          <p:cNvPr id="14" name="Text 12"/>
          <p:cNvSpPr/>
          <p:nvPr/>
        </p:nvSpPr>
        <p:spPr>
          <a:xfrm>
            <a:off x="594360" y="3831336"/>
            <a:ext cx="1280160" cy="320040"/>
          </a:xfrm>
          <a:prstGeom prst="rect">
            <a:avLst/>
          </a:prstGeom>
          <a:noFill/>
          <a:ln/>
        </p:spPr>
        <p:txBody>
          <a:bodyPr wrap="square" lIns="0" tIns="0" rIns="0" bIns="0"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App Contact: </a:t>
            </a:r>
            <a:endParaRPr lang="en-US" sz="1200" dirty="0"/>
          </a:p>
        </p:txBody>
      </p:sp>
      <p:sp>
        <p:nvSpPr>
          <p:cNvPr id="15" name="Text 13"/>
          <p:cNvSpPr/>
          <p:nvPr/>
        </p:nvSpPr>
        <p:spPr>
          <a:xfrm>
            <a:off x="1920240" y="3831336"/>
            <a:ext cx="50292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hello@tshelo.com</a:t>
            </a:r>
            <a:endParaRPr lang="en-US" sz="1200" dirty="0"/>
          </a:p>
        </p:txBody>
      </p:sp>
      <p:sp>
        <p:nvSpPr>
          <p:cNvPr id="16" name="Text 14"/>
          <p:cNvSpPr/>
          <p:nvPr/>
        </p:nvSpPr>
        <p:spPr>
          <a:xfrm>
            <a:off x="457200" y="4462272"/>
            <a:ext cx="8229600"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Data Sentinels  |  Tshelo Sandbox Presentation  |  April 2026  |  Confidential</a:t>
            </a:r>
            <a:endParaRPr lang="en-US" sz="1050" dirty="0"/>
          </a:p>
        </p:txBody>
      </p:sp>
      <p:pic>
        <p:nvPicPr>
          <p:cNvPr id="17" name="Image 0" descr="preencoded.png">    </p:cNvPr>
          <p:cNvPicPr>
            <a:picLocks noChangeAspect="1"/>
          </p:cNvPicPr>
          <p:nvPr/>
        </p:nvPicPr>
        <p:blipFill>
          <a:blip r:embed="rId1">
            <a:alphaModFix amt="75000"/>
          </a:blip>
          <a:stretch>
            <a:fillRect/>
          </a:stretch>
        </p:blipFill>
        <p:spPr>
          <a:xfrm>
            <a:off x="6766560" y="1280160"/>
            <a:ext cx="2011680" cy="2560320"/>
          </a:xfrm>
          <a:prstGeom prst="rect">
            <a:avLst/>
          </a:prstGeom>
        </p:spPr>
      </p:pic>
      <p:sp>
        <p:nvSpPr>
          <p:cNvPr id="18" name="Text 15"/>
          <p:cNvSpPr/>
          <p:nvPr/>
        </p:nvSpPr>
        <p:spPr>
          <a:xfrm>
            <a:off x="8412480" y="4846320"/>
            <a:ext cx="640080" cy="228600"/>
          </a:xfrm>
          <a:prstGeom prst="rect">
            <a:avLst/>
          </a:prstGeom>
          <a:noFill/>
          <a:ln/>
        </p:spPr>
        <p:txBody>
          <a:bodyPr wrap="square" rtlCol="0" anchor="ctr"/>
          <a:lstStyle/>
          <a:p>
            <a:pPr algn="r" indent="0" marL="0">
              <a:buNone/>
            </a:pPr>
            <a:r>
              <a:rPr lang="en-US" sz="900" dirty="0">
                <a:solidFill>
                  <a:srgbClr val="FFFFFF"/>
                </a:solidFill>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Tshelo – Bank of Botswana Sandbox Presentation</dc:title>
  <dc:subject>PptxGenJS Presentation</dc:subject>
  <dc:creator>Data Sentinels</dc:creator>
  <cp:lastModifiedBy>Data Sentinels</cp:lastModifiedBy>
  <cp:revision>1</cp:revision>
  <dcterms:created xsi:type="dcterms:W3CDTF">2026-04-07T10:39:39Z</dcterms:created>
  <dcterms:modified xsi:type="dcterms:W3CDTF">2026-04-07T10:39:39Z</dcterms:modified>
</cp:coreProperties>
</file>